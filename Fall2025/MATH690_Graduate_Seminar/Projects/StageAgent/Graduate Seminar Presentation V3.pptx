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D09390-7208-4A2E-BFD0-125207D30813}">
  <a:tblStyle styleId="{31D09390-7208-4A2E-BFD0-125207D308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63398996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63398996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63398996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63398996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6339899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6339899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6339899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6339899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63398996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63398996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63398996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63398996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63398996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63398996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63398996b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63398996b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63398996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63398996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63398996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63398996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63398996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63398996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cb37a710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cb37a71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🎯 CONTINGENCY PLANS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If critical failure occurs: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Week 3 API Integration Fails</a:t>
            </a:r>
            <a:r>
              <a:rPr lang="en-GB">
                <a:solidFill>
                  <a:schemeClr val="dk1"/>
                </a:solidFill>
              </a:rPr>
              <a:t> → Use mock data, demo locally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Web Scraping Blocked</a:t>
            </a:r>
            <a:r>
              <a:rPr lang="en-GB">
                <a:solidFill>
                  <a:schemeClr val="dk1"/>
                </a:solidFill>
              </a:rPr>
              <a:t> → Manual data entry for demo (8-10 plays)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Budget Exceeded</a:t>
            </a:r>
            <a:r>
              <a:rPr lang="en-GB">
                <a:solidFill>
                  <a:schemeClr val="dk1"/>
                </a:solidFill>
              </a:rPr>
              <a:t> → Switch to all-free alternatives (OSRM, mock calendar)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LLM Hallucinations</a:t>
            </a:r>
            <a:r>
              <a:rPr lang="en-GB">
                <a:solidFill>
                  <a:schemeClr val="dk1"/>
                </a:solidFill>
              </a:rPr>
              <a:t> → Add human-in-the-loop validation step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3398996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863398996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3398996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3398996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63398996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63398996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63398996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63398996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63398996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63398996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63398996b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63398996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63398996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63398996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63398996b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63398996b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mailto:mailtoayz@gmail.com" TargetMode="External"/><Relationship Id="rId4" Type="http://schemas.openxmlformats.org/officeDocument/2006/relationships/hyperlink" Target="https://github.com/ayz-90" TargetMode="External"/><Relationship Id="rId5" Type="http://schemas.openxmlformats.org/officeDocument/2006/relationships/hyperlink" Target="mailto:mak.ozgeozler@example.com" TargetMode="External"/><Relationship Id="rId6" Type="http://schemas.openxmlformats.org/officeDocument/2006/relationships/hyperlink" Target="http://github.com/ozgeozler93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/>
              <a:t>🎭 StageAgent</a:t>
            </a:r>
            <a:endParaRPr sz="5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33"/>
              <a:t># Personalized Theater Recommendation &amp; Planning Agent</a:t>
            </a:r>
            <a:endParaRPr sz="1833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MATH 690 - Graduate Seminar : Agentic AI Project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Students:</a:t>
            </a:r>
            <a:r>
              <a:rPr lang="en-GB" sz="1100">
                <a:solidFill>
                  <a:schemeClr val="dk1"/>
                </a:solidFill>
              </a:rPr>
              <a:t> Ayşegül Yavuz &amp; Makbule Özge Özler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r>
              <a:rPr b="1" lang="en-GB" sz="1100">
                <a:solidFill>
                  <a:schemeClr val="dk1"/>
                </a:solidFill>
              </a:rPr>
              <a:t>Instructor:</a:t>
            </a:r>
            <a:r>
              <a:rPr lang="en-GB" sz="1100">
                <a:solidFill>
                  <a:schemeClr val="dk1"/>
                </a:solidFill>
              </a:rPr>
              <a:t> Dr. Erdem Özcan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Due Date:</a:t>
            </a:r>
            <a:r>
              <a:rPr lang="en-GB" sz="1100">
                <a:solidFill>
                  <a:schemeClr val="dk1"/>
                </a:solidFill>
              </a:rPr>
              <a:t> December 2025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GB" sz="1700"/>
              <a:t>📋 Agenda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991025" y="1152475"/>
            <a:ext cx="5983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Problem Statement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Solution Overview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Technical Architecture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Prompting Techniques Used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System Components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Demo Scenario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Project Management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Risk Management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Evaluation Metrics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Learning Outcomes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Future Work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References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Q&amp;A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🎯 Problem Statement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Current Challenges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Theater enthusiasts face multiple pain points: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📅 Hard to track which plays are showing when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🗺️ Difficult to filter by location/distance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⭐ No personalized recommendations based on past preferences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🎥 Missing context (actor interviews, reviews)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⏰ Manual calendar coordination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Our Solution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An AI agent that:</a:t>
            </a:r>
            <a:endParaRPr b="1"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Syncs with your calendar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Recommends plays based on your taste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Filters by location and availability</a:t>
            </a:r>
            <a:endParaRPr sz="1100"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100">
                <a:solidFill>
                  <a:schemeClr val="dk1"/>
                </a:solidFill>
              </a:rPr>
              <a:t>Suggests pre/post-show content (interviews, reviews)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1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💡 Solution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7845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Core Features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1. Calendar Integration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Automatically finds free time slots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Avoids scheduling conflicts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2. Intelligent Filtering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Location-based (max 30 min travel)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Genre preferences (drama vs. comedy)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Venue preferences (state theater vs. private)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3. Personalized Scoring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Analyzes past ratings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Predicts enjoyment likelihood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4. Content Discovery</a:t>
            </a:r>
            <a:endParaRPr b="1"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Actor interviews (YouTube)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Reviews and articles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-GB" sz="1000">
                <a:solidFill>
                  <a:schemeClr val="dk1"/>
                </a:solidFill>
              </a:rPr>
              <a:t>Behind-the-scenes content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258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🏗️ Technical Architecture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06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High-Level Design (From GSU - </a:t>
            </a:r>
            <a:r>
              <a:rPr b="1" lang="en-GB" sz="1300">
                <a:solidFill>
                  <a:schemeClr val="dk1"/>
                </a:solidFill>
              </a:rPr>
              <a:t>Agents 2 </a:t>
            </a:r>
            <a:r>
              <a:rPr b="1" lang="en-GB" sz="1300">
                <a:solidFill>
                  <a:schemeClr val="dk1"/>
                </a:solidFill>
              </a:rPr>
              <a:t>Lecture Slide 16)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875" y="1645650"/>
            <a:ext cx="2634825" cy="31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245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🎨</a:t>
            </a:r>
            <a:r>
              <a:rPr b="1" lang="en-GB" sz="1700"/>
              <a:t> Prompting Techniques Used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225100" y="751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1. Zero-Shot (from Slide 6)</a:t>
            </a:r>
            <a:r>
              <a:rPr b="1" lang="en-GB" sz="1000">
                <a:solidFill>
                  <a:schemeClr val="dk1"/>
                </a:solidFill>
              </a:rPr>
              <a:t> </a:t>
            </a:r>
            <a:endParaRPr b="1" sz="1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Simple queries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</a:t>
            </a:r>
            <a:r>
              <a:rPr lang="en-GB" sz="1020">
                <a:solidFill>
                  <a:schemeClr val="dk1"/>
                </a:solidFill>
              </a:rPr>
              <a:t>Examples:  </a:t>
            </a:r>
            <a:r>
              <a:rPr lang="en-GB" sz="1020">
                <a:solidFill>
                  <a:schemeClr val="dk1"/>
                </a:solidFill>
              </a:rPr>
              <a:t>"What plays are showing today in Istanbul?" ``` </a:t>
            </a:r>
            <a:endParaRPr sz="10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solidFill>
                  <a:schemeClr val="dk1"/>
                </a:solidFill>
              </a:rPr>
              <a:t>2. Few-Shot (</a:t>
            </a:r>
            <a:r>
              <a:rPr b="1" lang="en-GB" sz="1020">
                <a:solidFill>
                  <a:schemeClr val="dk1"/>
                </a:solidFill>
              </a:rPr>
              <a:t>from </a:t>
            </a:r>
            <a:r>
              <a:rPr b="1" lang="en-GB" sz="1020">
                <a:solidFill>
                  <a:schemeClr val="dk1"/>
                </a:solidFill>
              </a:rPr>
              <a:t>Slide 7) </a:t>
            </a:r>
            <a:endParaRPr b="1"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Preference prediction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Examples: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- "Hamlet" → Liked (Drama, Classic)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- "Comedy Night" → Disliked (Shallow humor)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Predict: Will user like "King Lear"? </a:t>
            </a:r>
            <a:endParaRPr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</a:t>
            </a:r>
            <a:endParaRPr sz="10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solidFill>
                  <a:schemeClr val="dk1"/>
                </a:solidFill>
              </a:rPr>
              <a:t>3. Chain-of-Thought (</a:t>
            </a:r>
            <a:r>
              <a:rPr b="1" lang="en-GB" sz="1020">
                <a:solidFill>
                  <a:schemeClr val="dk1"/>
                </a:solidFill>
              </a:rPr>
              <a:t>from </a:t>
            </a:r>
            <a:r>
              <a:rPr b="1" lang="en-GB" sz="1020">
                <a:solidFill>
                  <a:schemeClr val="dk1"/>
                </a:solidFill>
              </a:rPr>
              <a:t>Slide 8) </a:t>
            </a:r>
            <a:endParaRPr b="1" sz="102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**Use Case:** Multi-step reasoning </a:t>
            </a:r>
            <a:endParaRPr sz="102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-GB" sz="1020">
                <a:solidFill>
                  <a:schemeClr val="dk1"/>
                </a:solidFill>
              </a:rPr>
              <a:t>``` 1. Analyze user's calendar 2. Find available time slots 3. Filter plays by location 4. Score based on past preferences 5. Rank and recommend```</a:t>
            </a:r>
            <a:endParaRPr sz="102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Tool Calling (Slide 12)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100">
                <a:solidFill>
                  <a:schemeClr val="dk1"/>
                </a:solidFill>
              </a:rPr>
              <a:t>Possible Available Tools: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0355" y="1653375"/>
            <a:ext cx="2794675" cy="288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🧠 </a:t>
            </a:r>
            <a:r>
              <a:rPr b="1" lang="en-GB" sz="1300">
                <a:solidFill>
                  <a:schemeClr val="dk1"/>
                </a:solidFill>
              </a:rPr>
              <a:t>Agentic Architecture Pattern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Planner Pattern (Slide 23)</a:t>
            </a:r>
            <a:endParaRPr sz="1100"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737" y="1768625"/>
            <a:ext cx="3903625" cy="27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0"/>
          <p:cNvSpPr txBox="1"/>
          <p:nvPr/>
        </p:nvSpPr>
        <p:spPr>
          <a:xfrm>
            <a:off x="6128375" y="2214225"/>
            <a:ext cx="2605200" cy="10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Why Planner?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Complex task requiring multiple steps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Tasks can be executed </a:t>
            </a:r>
            <a:r>
              <a:rPr lang="en-GB" sz="1100">
                <a:solidFill>
                  <a:srgbClr val="A626A4"/>
                </a:solidFill>
              </a:rPr>
              <a:t>in</a:t>
            </a:r>
            <a:r>
              <a:rPr lang="en-GB" sz="1100">
                <a:solidFill>
                  <a:schemeClr val="dk1"/>
                </a:solidFill>
              </a:rPr>
              <a:t> sequence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Plan needs to be tracked across iterations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🔄 </a:t>
            </a:r>
            <a:r>
              <a:rPr b="1" lang="en-GB" sz="1300">
                <a:solidFill>
                  <a:schemeClr val="dk1"/>
                </a:solidFill>
              </a:rPr>
              <a:t>Reflection Loop (Slide 21)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Continuous Improvement</a:t>
            </a:r>
            <a:endParaRPr sz="1100"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984" y="1875875"/>
            <a:ext cx="5084466" cy="24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6621425" y="2074300"/>
            <a:ext cx="21720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**</a:t>
            </a:r>
            <a:r>
              <a:rPr lang="en-GB" sz="1100">
                <a:solidFill>
                  <a:schemeClr val="dk1"/>
                </a:solidFill>
              </a:rPr>
              <a:t>Benefits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Learns </a:t>
            </a:r>
            <a:r>
              <a:rPr lang="en-GB" sz="1100">
                <a:solidFill>
                  <a:srgbClr val="A626A4"/>
                </a:solidFill>
              </a:rPr>
              <a:t>from</a:t>
            </a:r>
            <a:r>
              <a:rPr lang="en-GB" sz="1100">
                <a:solidFill>
                  <a:schemeClr val="dk1"/>
                </a:solidFill>
              </a:rPr>
              <a:t> user feedback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Improves over time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Self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correcting system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945925"/>
            <a:ext cx="4821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🛠️ Technical Stack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i) Backend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Language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Python </a:t>
            </a:r>
            <a:r>
              <a:rPr lang="en-GB" sz="1100">
                <a:solidFill>
                  <a:srgbClr val="B76B01"/>
                </a:solidFill>
              </a:rPr>
              <a:t>3.11</a:t>
            </a:r>
            <a:r>
              <a:rPr lang="en-GB" sz="1100">
                <a:solidFill>
                  <a:srgbClr val="4078F2"/>
                </a:solidFill>
              </a:rPr>
              <a:t>+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LLM Integration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LiteLLM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provider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Models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Claude </a:t>
            </a:r>
            <a:r>
              <a:rPr lang="en-GB" sz="1100">
                <a:solidFill>
                  <a:srgbClr val="B76B01"/>
                </a:solidFill>
              </a:rPr>
              <a:t>3.5</a:t>
            </a:r>
            <a:r>
              <a:rPr lang="en-GB" sz="1100">
                <a:solidFill>
                  <a:schemeClr val="dk1"/>
                </a:solidFill>
              </a:rPr>
              <a:t> Haiku</a:t>
            </a:r>
            <a:r>
              <a:rPr lang="en-GB" sz="1100">
                <a:solidFill>
                  <a:srgbClr val="383A42"/>
                </a:solidFill>
              </a:rPr>
              <a:t>,</a:t>
            </a:r>
            <a:r>
              <a:rPr lang="en-GB" sz="1100">
                <a:solidFill>
                  <a:schemeClr val="dk1"/>
                </a:solidFill>
              </a:rPr>
              <a:t>Gemini </a:t>
            </a:r>
            <a:r>
              <a:rPr lang="en-GB" sz="1100">
                <a:solidFill>
                  <a:srgbClr val="B76B01"/>
                </a:solidFill>
              </a:rPr>
              <a:t>2.0</a:t>
            </a:r>
            <a:r>
              <a:rPr lang="en-GB" sz="1100">
                <a:solidFill>
                  <a:schemeClr val="dk1"/>
                </a:solidFill>
              </a:rPr>
              <a:t> Flash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APIs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Calendar API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YouTube Data API v3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Maps Distance Matrix API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5697025" y="1727100"/>
            <a:ext cx="267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ii) </a:t>
            </a:r>
            <a:r>
              <a:rPr b="1" lang="en-GB" sz="1100">
                <a:solidFill>
                  <a:schemeClr val="dk1"/>
                </a:solidFill>
              </a:rPr>
              <a:t>Frontend</a:t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Framework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rgbClr val="4078F2"/>
                </a:solidFill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Streamlit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Deployment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Streamlit Cloud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iii) </a:t>
            </a:r>
            <a:r>
              <a:rPr b="1" lang="en-GB" sz="1100">
                <a:solidFill>
                  <a:schemeClr val="dk1"/>
                </a:solidFill>
              </a:rPr>
              <a:t>Data Storage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User Preferences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SQLite 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Cache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Redis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API responses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720"/>
              <a:t>🔧 System Components</a:t>
            </a:r>
            <a:endParaRPr b="1" sz="1720"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945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📊 System Flow Diagram</a:t>
            </a:r>
            <a:endParaRPr b="1"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775" y="34163"/>
            <a:ext cx="1936875" cy="507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268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20"/>
              <a:t>Project Management</a:t>
            </a:r>
            <a:endParaRPr b="1" sz="1720"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96243"/>
            <a:ext cx="9144003" cy="4049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268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20"/>
              <a:t>Risk  Management</a:t>
            </a:r>
            <a:endParaRPr b="1" sz="1720"/>
          </a:p>
        </p:txBody>
      </p:sp>
      <p:graphicFrame>
        <p:nvGraphicFramePr>
          <p:cNvPr id="136" name="Google Shape;136;p25"/>
          <p:cNvGraphicFramePr/>
          <p:nvPr/>
        </p:nvGraphicFramePr>
        <p:xfrm>
          <a:off x="265275" y="97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408650"/>
                <a:gridCol w="558800"/>
                <a:gridCol w="807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1.Technical Risks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Probability)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Rate Limits (Google Calendar, Maps)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 Hallucinations (Incorrect recommendations)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Cost Overrun (Claude API expensive)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" name="Google Shape;137;p25"/>
          <p:cNvGraphicFramePr/>
          <p:nvPr/>
        </p:nvGraphicFramePr>
        <p:xfrm>
          <a:off x="265275" y="24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408650"/>
                <a:gridCol w="558800"/>
                <a:gridCol w="807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 Data Quality Risks 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Outdated Play Information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Incomplete Theater Database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Scraping Failures (Site structure changes)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8" name="Google Shape;138;p25"/>
          <p:cNvGraphicFramePr/>
          <p:nvPr/>
        </p:nvGraphicFramePr>
        <p:xfrm>
          <a:off x="265275" y="361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408650"/>
                <a:gridCol w="558800"/>
                <a:gridCol w="8078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 Integration Risks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Calendar API Downtime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Maps API Changes/Costs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YouTube API Quota Exceeded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" name="Google Shape;139;p25"/>
          <p:cNvGraphicFramePr/>
          <p:nvPr/>
        </p:nvGraphicFramePr>
        <p:xfrm>
          <a:off x="4502488" y="97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905800"/>
                <a:gridCol w="561350"/>
                <a:gridCol w="709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 User Experience Risks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Poor Recommendation Quality (New users with no history)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Privacy Concerns (Calendar access)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Slow Response Time (&gt;10 sec)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" name="Google Shape;140;p25"/>
          <p:cNvGraphicFramePr/>
          <p:nvPr/>
        </p:nvGraphicFramePr>
        <p:xfrm>
          <a:off x="4537750" y="225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870550"/>
                <a:gridCol w="561350"/>
                <a:gridCol w="709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 Project Timeline Risks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 3-4 Delays (API integration complex)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Final Week Crunch (Integration issues)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" name="Google Shape;141;p25"/>
          <p:cNvGraphicFramePr/>
          <p:nvPr/>
        </p:nvGraphicFramePr>
        <p:xfrm>
          <a:off x="4537750" y="331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{31D09390-7208-4A2E-BFD0-125207D30813}</a:tableStyleId>
              </a:tblPr>
              <a:tblGrid>
                <a:gridCol w="2870550"/>
                <a:gridCol w="561350"/>
                <a:gridCol w="7097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 Budget &amp; Cost Risks</a:t>
                      </a:r>
                      <a:endParaRPr i="1"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 Costs Exceed Budget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Unexpected API Charges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91425" marR="9525" marL="952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 🔢 Evaluation Metrics</a:t>
            </a:r>
            <a:endParaRPr b="1" sz="1700"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855050"/>
            <a:ext cx="8520600" cy="3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Accuracy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Recommendation Hit Rate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 (</a:t>
            </a:r>
            <a:r>
              <a:rPr lang="en-GB" sz="1100">
                <a:solidFill>
                  <a:srgbClr val="4078F2"/>
                </a:solidFill>
              </a:rPr>
              <a:t>%</a:t>
            </a:r>
            <a:r>
              <a:rPr lang="en-GB" sz="1100">
                <a:solidFill>
                  <a:schemeClr val="dk1"/>
                </a:solidFill>
              </a:rPr>
              <a:t> of recommended plays actually attended 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70</a:t>
            </a:r>
            <a:r>
              <a:rPr lang="en-GB" sz="1100">
                <a:solidFill>
                  <a:srgbClr val="4078F2"/>
                </a:solidFill>
              </a:rPr>
              <a:t>% and above 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User Satisfaction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Average Rating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(User feedback on recommendations)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4.2</a:t>
            </a:r>
            <a:r>
              <a:rPr lang="en-GB" sz="1100">
                <a:solidFill>
                  <a:srgbClr val="4078F2"/>
                </a:solidFill>
              </a:rPr>
              <a:t>/</a:t>
            </a:r>
            <a:r>
              <a:rPr lang="en-GB" sz="1100">
                <a:solidFill>
                  <a:srgbClr val="B76B01"/>
                </a:solidFill>
              </a:rPr>
              <a:t>5.0)</a:t>
            </a:r>
            <a:endParaRPr sz="1100">
              <a:solidFill>
                <a:srgbClr val="B76B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System Performance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Response Time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(Time to generate plan)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4078F2"/>
                </a:solidFill>
              </a:rPr>
              <a:t>&lt;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B76B01"/>
                </a:solidFill>
              </a:rPr>
              <a:t>10</a:t>
            </a:r>
            <a:r>
              <a:rPr lang="en-GB" sz="1100">
                <a:solidFill>
                  <a:schemeClr val="dk1"/>
                </a:solidFill>
              </a:rPr>
              <a:t> seconds)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Coverage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Play Database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Number of plays tracked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Target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(i.e. </a:t>
            </a:r>
            <a:r>
              <a:rPr lang="en-GB" sz="1100">
                <a:solidFill>
                  <a:srgbClr val="B76B01"/>
                </a:solidFill>
              </a:rPr>
              <a:t>50 plus</a:t>
            </a:r>
            <a:r>
              <a:rPr lang="en-GB" sz="1100">
                <a:solidFill>
                  <a:schemeClr val="dk1"/>
                </a:solidFill>
              </a:rPr>
              <a:t> active plays)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 (Expected) Learning Outcomes</a:t>
            </a:r>
            <a:endParaRPr b="1" sz="1700"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821750"/>
            <a:ext cx="8520600" cy="37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1.</a:t>
            </a:r>
            <a:r>
              <a:rPr lang="en-GB" sz="1100">
                <a:solidFill>
                  <a:schemeClr val="dk1"/>
                </a:solidFill>
              </a:rPr>
              <a:t> Agentic AI Patterns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Planner architecture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Tool calling integration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Reflection loops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2.</a:t>
            </a:r>
            <a:r>
              <a:rPr lang="en-GB" sz="1100">
                <a:solidFill>
                  <a:schemeClr val="dk1"/>
                </a:solidFill>
              </a:rPr>
              <a:t> Prompting Techniques</a:t>
            </a:r>
            <a:endParaRPr sz="1100">
              <a:solidFill>
                <a:srgbClr val="4078F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Zero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shot 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quick queries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Few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shot </a:t>
            </a:r>
            <a:r>
              <a:rPr lang="en-GB" sz="1100">
                <a:solidFill>
                  <a:srgbClr val="A626A4"/>
                </a:solidFill>
              </a:rPr>
              <a:t>for </a:t>
            </a:r>
            <a:r>
              <a:rPr lang="en-GB" sz="1100">
                <a:solidFill>
                  <a:schemeClr val="dk1"/>
                </a:solidFill>
              </a:rPr>
              <a:t>preference learning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Chain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of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thought </a:t>
            </a:r>
            <a:r>
              <a:rPr lang="en-GB" sz="1100">
                <a:solidFill>
                  <a:srgbClr val="A626A4"/>
                </a:solidFill>
              </a:rPr>
              <a:t>for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complex</a:t>
            </a:r>
            <a:r>
              <a:rPr lang="en-GB" sz="1100">
                <a:solidFill>
                  <a:schemeClr val="dk1"/>
                </a:solidFill>
              </a:rPr>
              <a:t> reasoning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B76B01"/>
                </a:solidFill>
              </a:rPr>
              <a:t>3.</a:t>
            </a:r>
            <a:r>
              <a:rPr lang="en-GB" sz="1100">
                <a:solidFill>
                  <a:schemeClr val="dk1"/>
                </a:solidFill>
              </a:rPr>
              <a:t> Real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World Integration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API integration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Google Calendar</a:t>
            </a:r>
            <a:r>
              <a:rPr lang="en-GB" sz="1100">
                <a:solidFill>
                  <a:srgbClr val="383A42"/>
                </a:solidFill>
              </a:rPr>
              <a:t>,</a:t>
            </a:r>
            <a:r>
              <a:rPr lang="en-GB" sz="1100">
                <a:solidFill>
                  <a:schemeClr val="dk1"/>
                </a:solidFill>
              </a:rPr>
              <a:t> Maps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Web scraping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theater sites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Data persistence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user preferences</a:t>
            </a:r>
            <a:r>
              <a:rPr lang="en-GB" sz="1100">
                <a:solidFill>
                  <a:srgbClr val="383A42"/>
                </a:solidFill>
              </a:rPr>
              <a:t>)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211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🚀 Future Work</a:t>
            </a:r>
            <a:endParaRPr b="1" sz="1700"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71850" y="648500"/>
            <a:ext cx="2385600" cy="3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Phase 1 (Current Project)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Single city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Istanbul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Manual calendar sync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✅ Basic preferences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0" name="Google Shape;160;p28"/>
          <p:cNvSpPr txBox="1"/>
          <p:nvPr/>
        </p:nvSpPr>
        <p:spPr>
          <a:xfrm>
            <a:off x="2510750" y="2041000"/>
            <a:ext cx="25356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A0A1A7"/>
                </a:solidFill>
              </a:rPr>
              <a:t>Phase 2 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city support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International festivals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Travel cost estimation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🔄 Hotel</a:t>
            </a:r>
            <a:r>
              <a:rPr lang="en-GB" sz="1100">
                <a:solidFill>
                  <a:srgbClr val="4078F2"/>
                </a:solidFill>
              </a:rPr>
              <a:t>/</a:t>
            </a:r>
            <a:r>
              <a:rPr lang="en-GB" sz="1100">
                <a:solidFill>
                  <a:schemeClr val="dk1"/>
                </a:solidFill>
              </a:rPr>
              <a:t>flight booking </a:t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5508800" y="3338275"/>
            <a:ext cx="3568500" cy="22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rgbClr val="A0A1A7"/>
                </a:solidFill>
              </a:rPr>
              <a:t>Phase 3 (Advanced Features)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🎯 Group recommendations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friends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🎟️ Automatic ticket purchasing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📱 Mobile app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React Native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🌍 Multi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language support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References</a:t>
            </a:r>
            <a:endParaRPr b="1" sz="1700"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Course Materials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Lecture Slides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"Prompting LLMs"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Week </a:t>
            </a:r>
            <a:r>
              <a:rPr lang="en-GB" sz="1100">
                <a:solidFill>
                  <a:srgbClr val="B76B01"/>
                </a:solidFill>
              </a:rPr>
              <a:t>3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Lecture Slides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50A14F"/>
                </a:solidFill>
              </a:rPr>
              <a:t>"Architecture"</a:t>
            </a:r>
            <a:r>
              <a:rPr lang="en-GB" sz="1100">
                <a:solidFill>
                  <a:srgbClr val="383A42"/>
                </a:solidFill>
              </a:rPr>
              <a:t>(</a:t>
            </a:r>
            <a:r>
              <a:rPr lang="en-GB" sz="1100">
                <a:solidFill>
                  <a:schemeClr val="dk1"/>
                </a:solidFill>
              </a:rPr>
              <a:t>Week </a:t>
            </a:r>
            <a:r>
              <a:rPr lang="en-GB" sz="1100">
                <a:solidFill>
                  <a:srgbClr val="B76B01"/>
                </a:solidFill>
              </a:rPr>
              <a:t>4</a:t>
            </a:r>
            <a:r>
              <a:rPr lang="en-GB" sz="1100">
                <a:solidFill>
                  <a:srgbClr val="383A42"/>
                </a:solidFill>
              </a:rPr>
              <a:t>)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Technical Resources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Anthropic Claude Documentation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LiteLLM Documentation 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Google Calendar API v3 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YouTube Data API v3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Inspiration</a:t>
            </a:r>
            <a:r>
              <a:rPr lang="en-GB" sz="1100">
                <a:solidFill>
                  <a:srgbClr val="383A42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  Dr.Erdem </a:t>
            </a:r>
            <a:r>
              <a:rPr lang="en-GB" sz="1100">
                <a:solidFill>
                  <a:schemeClr val="dk1"/>
                </a:solidFill>
              </a:rPr>
              <a:t>Özcan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311700" y="115525"/>
            <a:ext cx="8520600" cy="445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🙏 Thank You!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Contact</a:t>
            </a:r>
            <a:endParaRPr b="1" sz="1700"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078F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4078F2"/>
                </a:solidFill>
              </a:rPr>
              <a:t> Ayşegül Yavuz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Email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3"/>
              </a:rPr>
              <a:t>mailtoayz@gmail.com</a:t>
            </a:r>
            <a:r>
              <a:rPr lang="en-GB" sz="1100">
                <a:solidFill>
                  <a:schemeClr val="dk1"/>
                </a:solidFill>
              </a:rPr>
              <a:t>  GitHub: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https://github.com/ayz-90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rgbClr val="4078F2"/>
                </a:solidFill>
              </a:rPr>
              <a:t>Makbule Özge Özler</a:t>
            </a:r>
            <a:endParaRPr sz="1100">
              <a:solidFill>
                <a:srgbClr val="4078F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  Email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mak.ozgeozler@gmail.com</a:t>
            </a:r>
            <a:r>
              <a:rPr lang="en-GB" sz="1100">
                <a:solidFill>
                  <a:schemeClr val="dk1"/>
                </a:solidFill>
              </a:rPr>
              <a:t>  GitHub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6"/>
              </a:rPr>
              <a:t>github.com/ozgeozler93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A0A1A7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/>
              <a:t>🔗 </a:t>
            </a:r>
            <a:r>
              <a:rPr b="1" lang="en-GB" sz="1700"/>
              <a:t>Demo </a:t>
            </a:r>
            <a:endParaRPr b="1" sz="1700"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100">
                <a:solidFill>
                  <a:srgbClr val="A0A1A7"/>
                </a:solidFill>
              </a:rPr>
              <a:t>Will be </a:t>
            </a:r>
            <a:r>
              <a:rPr i="1" lang="en-GB" sz="1100">
                <a:solidFill>
                  <a:srgbClr val="A0A1A7"/>
                </a:solidFill>
              </a:rPr>
              <a:t>Available At</a:t>
            </a:r>
            <a:r>
              <a:rPr lang="en-GB" sz="1100">
                <a:solidFill>
                  <a:schemeClr val="dk1"/>
                </a:solidFill>
              </a:rPr>
              <a:t> </a:t>
            </a:r>
            <a:r>
              <a:rPr lang="en-GB" sz="1100">
                <a:solidFill>
                  <a:srgbClr val="383A42"/>
                </a:solidFill>
              </a:rPr>
              <a:t>[</a:t>
            </a:r>
            <a:r>
              <a:rPr lang="en-GB" sz="1100">
                <a:solidFill>
                  <a:schemeClr val="dk1"/>
                </a:solidFill>
              </a:rPr>
              <a:t>theater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planner</a:t>
            </a:r>
            <a:r>
              <a:rPr lang="en-GB" sz="1100">
                <a:solidFill>
                  <a:srgbClr val="4078F2"/>
                </a:solidFill>
              </a:rPr>
              <a:t>-</a:t>
            </a:r>
            <a:r>
              <a:rPr lang="en-GB" sz="1100">
                <a:solidFill>
                  <a:schemeClr val="dk1"/>
                </a:solidFill>
              </a:rPr>
              <a:t>demo</a:t>
            </a:r>
            <a:r>
              <a:rPr lang="en-GB" sz="1100">
                <a:solidFill>
                  <a:srgbClr val="383A42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streamlit</a:t>
            </a:r>
            <a:r>
              <a:rPr lang="en-GB" sz="1100">
                <a:solidFill>
                  <a:srgbClr val="383A42"/>
                </a:solidFill>
              </a:rPr>
              <a:t>.</a:t>
            </a:r>
            <a:r>
              <a:rPr lang="en-GB" sz="1100">
                <a:solidFill>
                  <a:schemeClr val="dk1"/>
                </a:solidFill>
              </a:rPr>
              <a:t>app</a:t>
            </a:r>
            <a:r>
              <a:rPr lang="en-GB" sz="1100">
                <a:solidFill>
                  <a:srgbClr val="383A42"/>
                </a:solidFill>
              </a:rPr>
              <a:t>]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178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💬 Q&amp;A </a:t>
            </a:r>
            <a:endParaRPr b="1" sz="1700"/>
          </a:p>
        </p:txBody>
      </p:sp>
      <p:sp>
        <p:nvSpPr>
          <p:cNvPr id="190" name="Google Shape;190;p33"/>
          <p:cNvSpPr txBox="1"/>
          <p:nvPr>
            <p:ph idx="1" type="body"/>
          </p:nvPr>
        </p:nvSpPr>
        <p:spPr>
          <a:xfrm>
            <a:off x="311700" y="795100"/>
            <a:ext cx="8520600" cy="4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Possible </a:t>
            </a:r>
            <a:r>
              <a:rPr b="1" lang="en-GB" sz="1100">
                <a:solidFill>
                  <a:schemeClr val="dk1"/>
                </a:solidFill>
              </a:rPr>
              <a:t>Common Questions</a:t>
            </a:r>
            <a:r>
              <a:rPr b="1" lang="en-GB" sz="1100">
                <a:solidFill>
                  <a:srgbClr val="383A42"/>
                </a:solidFill>
              </a:rPr>
              <a:t>:</a:t>
            </a:r>
            <a:endParaRPr b="1"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383A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Q1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How do you handle multiple users?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A1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Each user has isolated preference profile </a:t>
            </a:r>
            <a:r>
              <a:rPr i="1" lang="en-GB" sz="1100">
                <a:solidFill>
                  <a:srgbClr val="A626A4"/>
                </a:solidFill>
              </a:rPr>
              <a:t>in</a:t>
            </a:r>
            <a:r>
              <a:rPr i="1" lang="en-GB" sz="1100">
                <a:solidFill>
                  <a:schemeClr val="dk1"/>
                </a:solidFill>
              </a:rPr>
              <a:t> database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Q2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What </a:t>
            </a:r>
            <a:r>
              <a:rPr lang="en-GB" sz="1100">
                <a:solidFill>
                  <a:srgbClr val="A626A4"/>
                </a:solidFill>
              </a:rPr>
              <a:t>if</a:t>
            </a:r>
            <a:r>
              <a:rPr lang="en-GB" sz="1100">
                <a:solidFill>
                  <a:schemeClr val="dk1"/>
                </a:solidFill>
              </a:rPr>
              <a:t> play info </a:t>
            </a:r>
            <a:r>
              <a:rPr lang="en-GB" sz="1100">
                <a:solidFill>
                  <a:srgbClr val="A626A4"/>
                </a:solidFill>
              </a:rPr>
              <a:t>is</a:t>
            </a:r>
            <a:r>
              <a:rPr lang="en-GB" sz="1100">
                <a:solidFill>
                  <a:schemeClr val="dk1"/>
                </a:solidFill>
              </a:rPr>
              <a:t> incorrect?</a:t>
            </a:r>
            <a:endParaRPr sz="1100">
              <a:solidFill>
                <a:srgbClr val="4078F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A2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Reflection loop allows users to report errors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system self</a:t>
            </a:r>
            <a:r>
              <a:rPr i="1" lang="en-GB" sz="1100">
                <a:solidFill>
                  <a:srgbClr val="4078F2"/>
                </a:solidFill>
              </a:rPr>
              <a:t>-</a:t>
            </a:r>
            <a:r>
              <a:rPr i="1" lang="en-GB" sz="1100">
                <a:solidFill>
                  <a:schemeClr val="dk1"/>
                </a:solidFill>
              </a:rPr>
              <a:t>corrects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Q3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Privacy concerns </a:t>
            </a:r>
            <a:r>
              <a:rPr lang="en-GB" sz="1100">
                <a:solidFill>
                  <a:srgbClr val="A626A4"/>
                </a:solidFill>
              </a:rPr>
              <a:t>with</a:t>
            </a:r>
            <a:r>
              <a:rPr lang="en-GB" sz="1100">
                <a:solidFill>
                  <a:schemeClr val="dk1"/>
                </a:solidFill>
              </a:rPr>
              <a:t> calendar access?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A3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OAuth2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read</a:t>
            </a:r>
            <a:r>
              <a:rPr i="1" lang="en-GB" sz="1100">
                <a:solidFill>
                  <a:srgbClr val="4078F2"/>
                </a:solidFill>
              </a:rPr>
              <a:t>-</a:t>
            </a:r>
            <a:r>
              <a:rPr i="1" lang="en-GB" sz="1100">
                <a:solidFill>
                  <a:schemeClr val="dk1"/>
                </a:solidFill>
              </a:rPr>
              <a:t>only access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user can revoke anytime 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078F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Q4</a:t>
            </a:r>
            <a:r>
              <a:rPr lang="en-GB" sz="1100">
                <a:solidFill>
                  <a:srgbClr val="383A42"/>
                </a:solidFill>
              </a:rPr>
              <a:t>:</a:t>
            </a:r>
            <a:r>
              <a:rPr lang="en-GB" sz="1100">
                <a:solidFill>
                  <a:schemeClr val="dk1"/>
                </a:solidFill>
              </a:rPr>
              <a:t> Cost of API calls?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GB" sz="1100">
                <a:solidFill>
                  <a:schemeClr val="dk1"/>
                </a:solidFill>
              </a:rPr>
              <a:t>A4</a:t>
            </a:r>
            <a:r>
              <a:rPr i="1" lang="en-GB" sz="1100">
                <a:solidFill>
                  <a:srgbClr val="383A42"/>
                </a:solidFill>
              </a:rPr>
              <a:t>:</a:t>
            </a:r>
            <a:r>
              <a:rPr i="1" lang="en-GB" sz="1100">
                <a:solidFill>
                  <a:schemeClr val="dk1"/>
                </a:solidFill>
              </a:rPr>
              <a:t> Cached responses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batched requests</a:t>
            </a:r>
            <a:r>
              <a:rPr i="1" lang="en-GB" sz="1100">
                <a:solidFill>
                  <a:srgbClr val="383A42"/>
                </a:solidFill>
              </a:rPr>
              <a:t>,</a:t>
            </a:r>
            <a:r>
              <a:rPr i="1"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rgbClr val="4078F2"/>
                </a:solidFill>
              </a:rPr>
              <a:t>~</a:t>
            </a:r>
            <a:r>
              <a:rPr i="1" lang="en-GB" sz="1100">
                <a:solidFill>
                  <a:schemeClr val="dk1"/>
                </a:solidFill>
              </a:rPr>
              <a:t>$</a:t>
            </a:r>
            <a:r>
              <a:rPr i="1" lang="en-GB" sz="1100">
                <a:solidFill>
                  <a:srgbClr val="B76B01"/>
                </a:solidFill>
              </a:rPr>
              <a:t>5</a:t>
            </a:r>
            <a:r>
              <a:rPr i="1" lang="en-GB" sz="1100">
                <a:solidFill>
                  <a:srgbClr val="4078F2"/>
                </a:solidFill>
              </a:rPr>
              <a:t>/</a:t>
            </a:r>
            <a:r>
              <a:rPr i="1" lang="en-GB" sz="1100">
                <a:solidFill>
                  <a:schemeClr val="dk1"/>
                </a:solidFill>
              </a:rPr>
              <a:t>month </a:t>
            </a:r>
            <a:r>
              <a:rPr i="1" lang="en-GB" sz="1100">
                <a:solidFill>
                  <a:srgbClr val="A626A4"/>
                </a:solidFill>
              </a:rPr>
              <a:t>for</a:t>
            </a:r>
            <a:r>
              <a:rPr i="1" lang="en-GB" sz="1100">
                <a:solidFill>
                  <a:schemeClr val="dk1"/>
                </a:solidFill>
              </a:rPr>
              <a:t> </a:t>
            </a:r>
            <a:r>
              <a:rPr i="1" lang="en-GB" sz="1100">
                <a:solidFill>
                  <a:srgbClr val="B76B01"/>
                </a:solidFill>
              </a:rPr>
              <a:t>100</a:t>
            </a:r>
            <a:r>
              <a:rPr i="1" lang="en-GB" sz="1100">
                <a:solidFill>
                  <a:schemeClr val="dk1"/>
                </a:solidFill>
              </a:rPr>
              <a:t> users 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
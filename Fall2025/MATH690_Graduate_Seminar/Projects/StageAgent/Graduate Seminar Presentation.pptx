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863398996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863398996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63398996b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863398996b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863398996b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863398996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863398996b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863398996b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863398996b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863398996b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863398996b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863398996b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863398996b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863398996b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863398996b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863398996b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863398996b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863398996b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863398996b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863398996b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863398996b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863398996b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863398996b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863398996b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863398996b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863398996b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863398996b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863398996b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863398996b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863398996b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863398996b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863398996b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863398996b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863398996b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863398996b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863398996b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863398996b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863398996b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863398996b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863398996b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hyperlink" Target="mailto:mailtoayz@gmail.com" TargetMode="External"/><Relationship Id="rId4" Type="http://schemas.openxmlformats.org/officeDocument/2006/relationships/hyperlink" Target="https://github.com/ayz-90" TargetMode="External"/><Relationship Id="rId5" Type="http://schemas.openxmlformats.org/officeDocument/2006/relationships/hyperlink" Target="mailto:mak.ozgeozler@example.com" TargetMode="External"/><Relationship Id="rId6" Type="http://schemas.openxmlformats.org/officeDocument/2006/relationships/hyperlink" Target="http://github.com/ozgeozler93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/>
              <a:t>🎭 AI Theater Planner </a:t>
            </a:r>
            <a:endParaRPr sz="5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33"/>
              <a:t># Personalized Theater Recommendation &amp; Planning Agent</a:t>
            </a:r>
            <a:endParaRPr sz="1833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130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MATH 690 - Graduate Seminar : Agentic AI Project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Students:</a:t>
            </a:r>
            <a:r>
              <a:rPr lang="en-GB" sz="1100">
                <a:solidFill>
                  <a:schemeClr val="dk1"/>
                </a:solidFill>
              </a:rPr>
              <a:t> Ayşegül Yavuz, Makbule Özge Özler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 </a:t>
            </a:r>
            <a:r>
              <a:rPr b="1" lang="en-GB" sz="1100">
                <a:solidFill>
                  <a:schemeClr val="dk1"/>
                </a:solidFill>
              </a:rPr>
              <a:t>Instructor:</a:t>
            </a:r>
            <a:r>
              <a:rPr lang="en-GB" sz="1100">
                <a:solidFill>
                  <a:schemeClr val="dk1"/>
                </a:solidFill>
              </a:rPr>
              <a:t> Dr. Erdem Özcan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Due Date:</a:t>
            </a:r>
            <a:r>
              <a:rPr lang="en-GB" sz="1100">
                <a:solidFill>
                  <a:schemeClr val="dk1"/>
                </a:solidFill>
              </a:rPr>
              <a:t> December 2025</a:t>
            </a:r>
            <a:endParaRPr sz="5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-GB" sz="1700"/>
              <a:t>📋 Agenda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 sz="1100">
                <a:solidFill>
                  <a:schemeClr val="dk1"/>
                </a:solidFill>
              </a:rPr>
              <a:t>Problem Statement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 sz="1100">
                <a:solidFill>
                  <a:schemeClr val="dk1"/>
                </a:solidFill>
              </a:rPr>
              <a:t>Solution Overview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 sz="1100">
                <a:solidFill>
                  <a:schemeClr val="dk1"/>
                </a:solidFill>
              </a:rPr>
              <a:t>Technical Architecture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 sz="1100">
                <a:solidFill>
                  <a:schemeClr val="dk1"/>
                </a:solidFill>
              </a:rPr>
              <a:t>Prompting Techniques Used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 sz="1100">
                <a:solidFill>
                  <a:schemeClr val="dk1"/>
                </a:solidFill>
              </a:rPr>
              <a:t>System Components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 sz="1100">
                <a:solidFill>
                  <a:schemeClr val="dk1"/>
                </a:solidFill>
              </a:rPr>
              <a:t>Demo Scenario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 sz="1100">
                <a:solidFill>
                  <a:schemeClr val="dk1"/>
                </a:solidFill>
              </a:rPr>
              <a:t>Project Management Timeline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 sz="1100">
                <a:solidFill>
                  <a:schemeClr val="dk1"/>
                </a:solidFill>
              </a:rPr>
              <a:t>Evaluation Metrics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 sz="1100">
                <a:solidFill>
                  <a:schemeClr val="dk1"/>
                </a:solidFill>
              </a:rPr>
              <a:t>Learning Outcomes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 sz="1100">
                <a:solidFill>
                  <a:schemeClr val="dk1"/>
                </a:solidFill>
              </a:rPr>
              <a:t>Future Work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 sz="1100">
                <a:solidFill>
                  <a:schemeClr val="dk1"/>
                </a:solidFill>
              </a:rPr>
              <a:t>References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 sz="1100">
                <a:solidFill>
                  <a:schemeClr val="dk1"/>
                </a:solidFill>
              </a:rPr>
              <a:t>Q&amp;A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700"/>
              <a:t>🎯 Problem Statement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Current Challenges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Theater enthusiasts face multiple pain points:</a:t>
            </a:r>
            <a:endParaRPr b="1"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100">
                <a:solidFill>
                  <a:schemeClr val="dk1"/>
                </a:solidFill>
              </a:rPr>
              <a:t>📅 Hard to track which plays are showing when</a:t>
            </a:r>
            <a:endParaRPr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100">
                <a:solidFill>
                  <a:schemeClr val="dk1"/>
                </a:solidFill>
              </a:rPr>
              <a:t>🗺️ Difficult to filter by location/distance</a:t>
            </a:r>
            <a:endParaRPr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100">
                <a:solidFill>
                  <a:schemeClr val="dk1"/>
                </a:solidFill>
              </a:rPr>
              <a:t>⭐ No personalized recommendations based on past preferences</a:t>
            </a:r>
            <a:endParaRPr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100">
                <a:solidFill>
                  <a:schemeClr val="dk1"/>
                </a:solidFill>
              </a:rPr>
              <a:t>🎥 Missing context (actor interviews, reviews)</a:t>
            </a:r>
            <a:endParaRPr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100">
                <a:solidFill>
                  <a:schemeClr val="dk1"/>
                </a:solidFill>
              </a:rPr>
              <a:t>⏰ Manual calendar coordination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Our Solution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An AI agent that:</a:t>
            </a:r>
            <a:endParaRPr b="1"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100">
                <a:solidFill>
                  <a:schemeClr val="dk1"/>
                </a:solidFill>
              </a:rPr>
              <a:t>Syncs with your calendar</a:t>
            </a:r>
            <a:endParaRPr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100">
                <a:solidFill>
                  <a:schemeClr val="dk1"/>
                </a:solidFill>
              </a:rPr>
              <a:t>Recommends plays based on your taste</a:t>
            </a:r>
            <a:endParaRPr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100">
                <a:solidFill>
                  <a:schemeClr val="dk1"/>
                </a:solidFill>
              </a:rPr>
              <a:t>Filters by location and availability</a:t>
            </a:r>
            <a:endParaRPr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100">
                <a:solidFill>
                  <a:schemeClr val="dk1"/>
                </a:solidFill>
              </a:rPr>
              <a:t>Suggests pre/post-show content (interviews, reviews)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211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700"/>
              <a:t>💡 Solution Overview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7845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000">
                <a:solidFill>
                  <a:schemeClr val="dk1"/>
                </a:solidFill>
              </a:rPr>
              <a:t>Core Features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000">
                <a:solidFill>
                  <a:schemeClr val="dk1"/>
                </a:solidFill>
              </a:rPr>
              <a:t>1. Calendar Integration</a:t>
            </a:r>
            <a:endParaRPr b="1"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GB" sz="1000">
                <a:solidFill>
                  <a:schemeClr val="dk1"/>
                </a:solidFill>
              </a:rPr>
              <a:t>Automatically finds free time slots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GB" sz="1000">
                <a:solidFill>
                  <a:schemeClr val="dk1"/>
                </a:solidFill>
              </a:rPr>
              <a:t>Avoids scheduling conflicts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000">
                <a:solidFill>
                  <a:schemeClr val="dk1"/>
                </a:solidFill>
              </a:rPr>
              <a:t>2. Intelligent Filtering</a:t>
            </a:r>
            <a:endParaRPr b="1"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GB" sz="1000">
                <a:solidFill>
                  <a:schemeClr val="dk1"/>
                </a:solidFill>
              </a:rPr>
              <a:t>Location-based (max 30 min travel)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GB" sz="1000">
                <a:solidFill>
                  <a:schemeClr val="dk1"/>
                </a:solidFill>
              </a:rPr>
              <a:t>Genre preferences (drama vs. comedy)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GB" sz="1000">
                <a:solidFill>
                  <a:schemeClr val="dk1"/>
                </a:solidFill>
              </a:rPr>
              <a:t>Venue preferences (state theater vs. private)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000">
                <a:solidFill>
                  <a:schemeClr val="dk1"/>
                </a:solidFill>
              </a:rPr>
              <a:t>3. Personalized Scoring</a:t>
            </a:r>
            <a:endParaRPr b="1"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GB" sz="1000">
                <a:solidFill>
                  <a:schemeClr val="dk1"/>
                </a:solidFill>
              </a:rPr>
              <a:t>Analyzes past ratings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GB" sz="1000">
                <a:solidFill>
                  <a:schemeClr val="dk1"/>
                </a:solidFill>
              </a:rPr>
              <a:t>Predicts enjoyment likelihood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000">
                <a:solidFill>
                  <a:schemeClr val="dk1"/>
                </a:solidFill>
              </a:rPr>
              <a:t>4. Content Discovery</a:t>
            </a:r>
            <a:endParaRPr b="1"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GB" sz="1000">
                <a:solidFill>
                  <a:schemeClr val="dk1"/>
                </a:solidFill>
              </a:rPr>
              <a:t>Actor interviews (YouTube)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GB" sz="1000">
                <a:solidFill>
                  <a:schemeClr val="dk1"/>
                </a:solidFill>
              </a:rPr>
              <a:t>Reviews and articles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GB" sz="1000">
                <a:solidFill>
                  <a:schemeClr val="dk1"/>
                </a:solidFill>
              </a:rPr>
              <a:t>Behind-the-scenes content</a:t>
            </a:r>
            <a:endParaRPr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2584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700"/>
              <a:t>🏗️ Technical Architecture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0658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High-Level Design (From GSU - </a:t>
            </a:r>
            <a:r>
              <a:rPr b="1" lang="en-GB" sz="1300">
                <a:solidFill>
                  <a:schemeClr val="dk1"/>
                </a:solidFill>
              </a:rPr>
              <a:t>Agents 2 </a:t>
            </a:r>
            <a:r>
              <a:rPr b="1" lang="en-GB" sz="1300">
                <a:solidFill>
                  <a:schemeClr val="dk1"/>
                </a:solidFill>
              </a:rPr>
              <a:t>Lecture Slide 16)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0" name="Google Shape;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76875" y="1645650"/>
            <a:ext cx="2634825" cy="319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245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2"/>
                </a:solidFill>
              </a:rPr>
              <a:t>🎨</a:t>
            </a:r>
            <a:r>
              <a:rPr b="1" lang="en-GB" sz="1700"/>
              <a:t> Prompting Techniques Used</a:t>
            </a:r>
            <a:r>
              <a:rPr lang="en-GB" sz="1800">
                <a:solidFill>
                  <a:schemeClr val="dk2"/>
                </a:solidFill>
              </a:rPr>
              <a:t> 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225100" y="7512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chemeClr val="dk1"/>
                </a:solidFill>
              </a:rPr>
              <a:t>1. Zero-Shot (from Slide 6)</a:t>
            </a:r>
            <a:r>
              <a:rPr b="1" lang="en-GB" sz="1000">
                <a:solidFill>
                  <a:schemeClr val="dk1"/>
                </a:solidFill>
              </a:rPr>
              <a:t> </a:t>
            </a:r>
            <a:endParaRPr b="1" sz="1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SzPts val="440"/>
              <a:buNone/>
            </a:pPr>
            <a:r>
              <a:rPr lang="en-GB" sz="1020">
                <a:solidFill>
                  <a:schemeClr val="dk1"/>
                </a:solidFill>
              </a:rPr>
              <a:t>**Use Case:** Simple queries </a:t>
            </a:r>
            <a:endParaRPr sz="102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-GB" sz="1020">
                <a:solidFill>
                  <a:schemeClr val="dk1"/>
                </a:solidFill>
              </a:rPr>
              <a:t>``` </a:t>
            </a:r>
            <a:r>
              <a:rPr lang="en-GB" sz="1020">
                <a:solidFill>
                  <a:schemeClr val="dk1"/>
                </a:solidFill>
              </a:rPr>
              <a:t>Examples:  </a:t>
            </a:r>
            <a:r>
              <a:rPr lang="en-GB" sz="1020">
                <a:solidFill>
                  <a:schemeClr val="dk1"/>
                </a:solidFill>
              </a:rPr>
              <a:t>"What plays are showing today in Istanbul?" ``` </a:t>
            </a:r>
            <a:endParaRPr sz="102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b="1" lang="en-GB" sz="1020">
                <a:solidFill>
                  <a:schemeClr val="dk1"/>
                </a:solidFill>
              </a:rPr>
              <a:t>2. Few-Shot (</a:t>
            </a:r>
            <a:r>
              <a:rPr b="1" lang="en-GB" sz="1020">
                <a:solidFill>
                  <a:schemeClr val="dk1"/>
                </a:solidFill>
              </a:rPr>
              <a:t>from </a:t>
            </a:r>
            <a:r>
              <a:rPr b="1" lang="en-GB" sz="1020">
                <a:solidFill>
                  <a:schemeClr val="dk1"/>
                </a:solidFill>
              </a:rPr>
              <a:t>Slide 7) </a:t>
            </a:r>
            <a:endParaRPr b="1" sz="102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-GB" sz="1020">
                <a:solidFill>
                  <a:schemeClr val="dk1"/>
                </a:solidFill>
              </a:rPr>
              <a:t>**Use Case:** Preference prediction </a:t>
            </a:r>
            <a:endParaRPr sz="102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-GB" sz="1020">
                <a:solidFill>
                  <a:schemeClr val="dk1"/>
                </a:solidFill>
              </a:rPr>
              <a:t>``` Examples: </a:t>
            </a:r>
            <a:endParaRPr sz="102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-GB" sz="1020">
                <a:solidFill>
                  <a:schemeClr val="dk1"/>
                </a:solidFill>
              </a:rPr>
              <a:t>- "Hamlet" → Liked (Drama, Classic) </a:t>
            </a:r>
            <a:endParaRPr sz="102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-GB" sz="1020">
                <a:solidFill>
                  <a:schemeClr val="dk1"/>
                </a:solidFill>
              </a:rPr>
              <a:t>- "Comedy Night" → Disliked (Shallow humor) </a:t>
            </a:r>
            <a:endParaRPr sz="102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-GB" sz="1020">
                <a:solidFill>
                  <a:schemeClr val="dk1"/>
                </a:solidFill>
              </a:rPr>
              <a:t>Predict: Will user like "King Lear"? </a:t>
            </a:r>
            <a:endParaRPr sz="102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-GB" sz="1020">
                <a:solidFill>
                  <a:schemeClr val="dk1"/>
                </a:solidFill>
              </a:rPr>
              <a:t>``` </a:t>
            </a:r>
            <a:endParaRPr sz="102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b="1" lang="en-GB" sz="1020">
                <a:solidFill>
                  <a:schemeClr val="dk1"/>
                </a:solidFill>
              </a:rPr>
              <a:t>3. Chain-of-Thought (</a:t>
            </a:r>
            <a:r>
              <a:rPr b="1" lang="en-GB" sz="1020">
                <a:solidFill>
                  <a:schemeClr val="dk1"/>
                </a:solidFill>
              </a:rPr>
              <a:t>from </a:t>
            </a:r>
            <a:r>
              <a:rPr b="1" lang="en-GB" sz="1020">
                <a:solidFill>
                  <a:schemeClr val="dk1"/>
                </a:solidFill>
              </a:rPr>
              <a:t>Slide 8) </a:t>
            </a:r>
            <a:endParaRPr b="1" sz="102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-GB" sz="1020">
                <a:solidFill>
                  <a:schemeClr val="dk1"/>
                </a:solidFill>
              </a:rPr>
              <a:t>**Use Case:** Multi-step reasoning </a:t>
            </a:r>
            <a:endParaRPr sz="102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440"/>
              <a:buNone/>
            </a:pPr>
            <a:r>
              <a:rPr lang="en-GB" sz="1020">
                <a:solidFill>
                  <a:schemeClr val="dk1"/>
                </a:solidFill>
              </a:rPr>
              <a:t>``` 1. Analyze user's calendar 2. Find available time slots 3. Filter plays by location 4. Score based on past preferences 5. Rank and recommend```</a:t>
            </a:r>
            <a:endParaRPr sz="102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720"/>
              <a:t>🔧 System Components</a:t>
            </a:r>
            <a:endParaRPr b="1" sz="1720"/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311700" y="9459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Tool Calling (Slide 12)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Possible Available Tools: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3" name="Google Shape;9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10355" y="1653375"/>
            <a:ext cx="2794675" cy="288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720"/>
              <a:t>🔧 System Components</a:t>
            </a:r>
            <a:endParaRPr b="1" sz="1720"/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311700" y="9459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🧠 </a:t>
            </a:r>
            <a:r>
              <a:rPr b="1" lang="en-GB" sz="1300">
                <a:solidFill>
                  <a:schemeClr val="dk1"/>
                </a:solidFill>
              </a:rPr>
              <a:t>Agentic Architecture Pattern</a:t>
            </a:r>
            <a:endParaRPr b="1" sz="13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Planner Pattern (Slide 23)</a:t>
            </a:r>
            <a:endParaRPr sz="1100"/>
          </a:p>
        </p:txBody>
      </p:sp>
      <p:pic>
        <p:nvPicPr>
          <p:cNvPr id="100" name="Google Shape;10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7737" y="1768625"/>
            <a:ext cx="3903625" cy="2758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0"/>
          <p:cNvSpPr txBox="1"/>
          <p:nvPr/>
        </p:nvSpPr>
        <p:spPr>
          <a:xfrm>
            <a:off x="6128375" y="2214225"/>
            <a:ext cx="2605200" cy="10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4078F2"/>
                </a:solidFill>
              </a:rPr>
              <a:t>**</a:t>
            </a:r>
            <a:r>
              <a:rPr lang="en-GB" sz="1100">
                <a:solidFill>
                  <a:schemeClr val="dk1"/>
                </a:solidFill>
              </a:rPr>
              <a:t>Why Planner?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 Complex task requiring multiple steps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 Tasks can be executed </a:t>
            </a:r>
            <a:r>
              <a:rPr lang="en-GB" sz="1100">
                <a:solidFill>
                  <a:srgbClr val="A626A4"/>
                </a:solidFill>
              </a:rPr>
              <a:t>in</a:t>
            </a:r>
            <a:r>
              <a:rPr lang="en-GB" sz="1100">
                <a:solidFill>
                  <a:schemeClr val="dk1"/>
                </a:solidFill>
              </a:rPr>
              <a:t> sequence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 Plan needs to be tracked across iterations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720"/>
              <a:t>🔧 System Components</a:t>
            </a:r>
            <a:endParaRPr b="1" sz="1720"/>
          </a:p>
        </p:txBody>
      </p:sp>
      <p:sp>
        <p:nvSpPr>
          <p:cNvPr id="107" name="Google Shape;107;p21"/>
          <p:cNvSpPr txBox="1"/>
          <p:nvPr>
            <p:ph idx="1" type="body"/>
          </p:nvPr>
        </p:nvSpPr>
        <p:spPr>
          <a:xfrm>
            <a:off x="311700" y="9459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🔄 </a:t>
            </a:r>
            <a:r>
              <a:rPr b="1" lang="en-GB" sz="1300">
                <a:solidFill>
                  <a:schemeClr val="dk1"/>
                </a:solidFill>
              </a:rPr>
              <a:t>Reflection Loop (Slide 21)</a:t>
            </a:r>
            <a:endParaRPr b="1" sz="13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Continuous Improvement</a:t>
            </a:r>
            <a:endParaRPr sz="1100"/>
          </a:p>
        </p:txBody>
      </p:sp>
      <p:pic>
        <p:nvPicPr>
          <p:cNvPr id="108" name="Google Shape;10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9984" y="1875875"/>
            <a:ext cx="5084466" cy="2486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1"/>
          <p:cNvSpPr txBox="1"/>
          <p:nvPr/>
        </p:nvSpPr>
        <p:spPr>
          <a:xfrm>
            <a:off x="6621425" y="2074300"/>
            <a:ext cx="2172000" cy="14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4078F2"/>
                </a:solidFill>
              </a:rPr>
              <a:t>**</a:t>
            </a:r>
            <a:r>
              <a:rPr lang="en-GB" sz="1100">
                <a:solidFill>
                  <a:schemeClr val="dk1"/>
                </a:solidFill>
              </a:rPr>
              <a:t>Benefits</a:t>
            </a:r>
            <a:r>
              <a:rPr lang="en-GB" sz="1100">
                <a:solidFill>
                  <a:srgbClr val="383A42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 Learns </a:t>
            </a:r>
            <a:r>
              <a:rPr lang="en-GB" sz="1100">
                <a:solidFill>
                  <a:srgbClr val="A626A4"/>
                </a:solidFill>
              </a:rPr>
              <a:t>from</a:t>
            </a:r>
            <a:r>
              <a:rPr lang="en-GB" sz="1100">
                <a:solidFill>
                  <a:schemeClr val="dk1"/>
                </a:solidFill>
              </a:rPr>
              <a:t> user feedback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 Improves over time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 Self</a:t>
            </a: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correcting system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720"/>
              <a:t>🔧 System Components</a:t>
            </a:r>
            <a:endParaRPr b="1" sz="1720"/>
          </a:p>
        </p:txBody>
      </p:sp>
      <p:sp>
        <p:nvSpPr>
          <p:cNvPr id="115" name="Google Shape;115;p22"/>
          <p:cNvSpPr txBox="1"/>
          <p:nvPr>
            <p:ph idx="1" type="body"/>
          </p:nvPr>
        </p:nvSpPr>
        <p:spPr>
          <a:xfrm>
            <a:off x="311700" y="9459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🛠️ Technical Stack</a:t>
            </a:r>
            <a:endParaRPr b="1" sz="13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Backend</a:t>
            </a:r>
            <a:endParaRPr b="1"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 </a:t>
            </a:r>
            <a:r>
              <a:rPr lang="en-GB" sz="1100">
                <a:solidFill>
                  <a:srgbClr val="4078F2"/>
                </a:solidFill>
              </a:rPr>
              <a:t>**</a:t>
            </a:r>
            <a:r>
              <a:rPr lang="en-GB" sz="1100">
                <a:solidFill>
                  <a:schemeClr val="dk1"/>
                </a:solidFill>
              </a:rPr>
              <a:t>Language</a:t>
            </a:r>
            <a:r>
              <a:rPr lang="en-GB" sz="1100">
                <a:solidFill>
                  <a:srgbClr val="383A42"/>
                </a:solidFill>
              </a:rPr>
              <a:t>:</a:t>
            </a:r>
            <a:r>
              <a:rPr lang="en-GB" sz="1100">
                <a:solidFill>
                  <a:srgbClr val="4078F2"/>
                </a:solidFill>
              </a:rPr>
              <a:t>**</a:t>
            </a:r>
            <a:r>
              <a:rPr lang="en-GB" sz="1100">
                <a:solidFill>
                  <a:schemeClr val="dk1"/>
                </a:solidFill>
              </a:rPr>
              <a:t> Python </a:t>
            </a:r>
            <a:r>
              <a:rPr lang="en-GB" sz="1100">
                <a:solidFill>
                  <a:srgbClr val="B76B01"/>
                </a:solidFill>
              </a:rPr>
              <a:t>3.11</a:t>
            </a:r>
            <a:r>
              <a:rPr lang="en-GB" sz="1100">
                <a:solidFill>
                  <a:srgbClr val="4078F2"/>
                </a:solidFill>
              </a:rPr>
              <a:t>+</a:t>
            </a:r>
            <a:r>
              <a:rPr lang="en-GB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 </a:t>
            </a:r>
            <a:r>
              <a:rPr lang="en-GB" sz="1100">
                <a:solidFill>
                  <a:srgbClr val="4078F2"/>
                </a:solidFill>
              </a:rPr>
              <a:t>**</a:t>
            </a:r>
            <a:r>
              <a:rPr lang="en-GB" sz="1100">
                <a:solidFill>
                  <a:schemeClr val="dk1"/>
                </a:solidFill>
              </a:rPr>
              <a:t>LLM Integration</a:t>
            </a:r>
            <a:r>
              <a:rPr lang="en-GB" sz="1100">
                <a:solidFill>
                  <a:srgbClr val="383A42"/>
                </a:solidFill>
              </a:rPr>
              <a:t>:</a:t>
            </a:r>
            <a:r>
              <a:rPr lang="en-GB" sz="1100">
                <a:solidFill>
                  <a:srgbClr val="4078F2"/>
                </a:solidFill>
              </a:rPr>
              <a:t>**</a:t>
            </a:r>
            <a:r>
              <a:rPr lang="en-GB" sz="1100">
                <a:solidFill>
                  <a:schemeClr val="dk1"/>
                </a:solidFill>
              </a:rPr>
              <a:t> LiteLLM </a:t>
            </a:r>
            <a:r>
              <a:rPr lang="en-GB" sz="1100">
                <a:solidFill>
                  <a:srgbClr val="383A42"/>
                </a:solidFill>
              </a:rPr>
              <a:t>(</a:t>
            </a:r>
            <a:r>
              <a:rPr lang="en-GB" sz="1100">
                <a:solidFill>
                  <a:schemeClr val="dk1"/>
                </a:solidFill>
              </a:rPr>
              <a:t>multi</a:t>
            </a: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provider</a:t>
            </a:r>
            <a:r>
              <a:rPr lang="en-GB" sz="1100">
                <a:solidFill>
                  <a:srgbClr val="383A42"/>
                </a:solidFill>
              </a:rPr>
              <a:t>)</a:t>
            </a:r>
            <a:r>
              <a:rPr lang="en-GB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 </a:t>
            </a:r>
            <a:r>
              <a:rPr lang="en-GB" sz="1100">
                <a:solidFill>
                  <a:srgbClr val="4078F2"/>
                </a:solidFill>
              </a:rPr>
              <a:t>**</a:t>
            </a:r>
            <a:r>
              <a:rPr lang="en-GB" sz="1100">
                <a:solidFill>
                  <a:schemeClr val="dk1"/>
                </a:solidFill>
              </a:rPr>
              <a:t>Models</a:t>
            </a:r>
            <a:r>
              <a:rPr lang="en-GB" sz="1100">
                <a:solidFill>
                  <a:srgbClr val="383A42"/>
                </a:solidFill>
              </a:rPr>
              <a:t>:</a:t>
            </a:r>
            <a:r>
              <a:rPr lang="en-GB" sz="1100">
                <a:solidFill>
                  <a:srgbClr val="4078F2"/>
                </a:solidFill>
              </a:rPr>
              <a:t>**</a:t>
            </a:r>
            <a:r>
              <a:rPr lang="en-GB" sz="1100">
                <a:solidFill>
                  <a:schemeClr val="dk1"/>
                </a:solidFill>
              </a:rPr>
              <a:t> Claude </a:t>
            </a:r>
            <a:r>
              <a:rPr lang="en-GB" sz="1100">
                <a:solidFill>
                  <a:srgbClr val="B76B01"/>
                </a:solidFill>
              </a:rPr>
              <a:t>3.5</a:t>
            </a:r>
            <a:r>
              <a:rPr lang="en-GB" sz="1100">
                <a:solidFill>
                  <a:schemeClr val="dk1"/>
                </a:solidFill>
              </a:rPr>
              <a:t> Haiku</a:t>
            </a:r>
            <a:r>
              <a:rPr lang="en-GB" sz="1100">
                <a:solidFill>
                  <a:srgbClr val="383A42"/>
                </a:solidFill>
              </a:rPr>
              <a:t>,</a:t>
            </a:r>
            <a:r>
              <a:rPr lang="en-GB" sz="1100">
                <a:solidFill>
                  <a:schemeClr val="dk1"/>
                </a:solidFill>
              </a:rPr>
              <a:t>Gemini </a:t>
            </a:r>
            <a:r>
              <a:rPr lang="en-GB" sz="1100">
                <a:solidFill>
                  <a:srgbClr val="B76B01"/>
                </a:solidFill>
              </a:rPr>
              <a:t>2.0</a:t>
            </a:r>
            <a:r>
              <a:rPr lang="en-GB" sz="1100">
                <a:solidFill>
                  <a:schemeClr val="dk1"/>
                </a:solidFill>
              </a:rPr>
              <a:t> Flash 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 </a:t>
            </a:r>
            <a:r>
              <a:rPr lang="en-GB" sz="1100">
                <a:solidFill>
                  <a:srgbClr val="4078F2"/>
                </a:solidFill>
              </a:rPr>
              <a:t>**</a:t>
            </a:r>
            <a:r>
              <a:rPr lang="en-GB" sz="1100">
                <a:solidFill>
                  <a:schemeClr val="dk1"/>
                </a:solidFill>
              </a:rPr>
              <a:t>APIs</a:t>
            </a:r>
            <a:r>
              <a:rPr lang="en-GB" sz="1100">
                <a:solidFill>
                  <a:srgbClr val="383A42"/>
                </a:solidFill>
              </a:rPr>
              <a:t>:</a:t>
            </a:r>
            <a:r>
              <a:rPr lang="en-GB" sz="1100">
                <a:solidFill>
                  <a:srgbClr val="4078F2"/>
                </a:solidFill>
              </a:rPr>
              <a:t>**</a:t>
            </a:r>
            <a:r>
              <a:rPr lang="en-GB" sz="1100">
                <a:solidFill>
                  <a:schemeClr val="dk1"/>
                </a:solidFill>
              </a:rPr>
              <a:t> </a:t>
            </a: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 Google Calendar API </a:t>
            </a: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 YouTube Data API v3 </a:t>
            </a: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 Google Maps Distance Matrix API</a:t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720"/>
              <a:t>🔧 System Components</a:t>
            </a:r>
            <a:endParaRPr b="1" sz="1720"/>
          </a:p>
        </p:txBody>
      </p:sp>
      <p:sp>
        <p:nvSpPr>
          <p:cNvPr id="121" name="Google Shape;121;p23"/>
          <p:cNvSpPr txBox="1"/>
          <p:nvPr>
            <p:ph idx="1" type="body"/>
          </p:nvPr>
        </p:nvSpPr>
        <p:spPr>
          <a:xfrm>
            <a:off x="311700" y="9459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🛠️ Technical Stack</a:t>
            </a:r>
            <a:endParaRPr b="1" sz="13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Front</a:t>
            </a:r>
            <a:r>
              <a:rPr b="1" lang="en-GB" sz="1100">
                <a:solidFill>
                  <a:schemeClr val="dk1"/>
                </a:solidFill>
              </a:rPr>
              <a:t>end</a:t>
            </a:r>
            <a:endParaRPr b="1"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 </a:t>
            </a:r>
            <a:r>
              <a:rPr lang="en-GB" sz="1100">
                <a:solidFill>
                  <a:srgbClr val="4078F2"/>
                </a:solidFill>
              </a:rPr>
              <a:t>**</a:t>
            </a:r>
            <a:r>
              <a:rPr lang="en-GB" sz="1100">
                <a:solidFill>
                  <a:schemeClr val="dk1"/>
                </a:solidFill>
              </a:rPr>
              <a:t>Framework</a:t>
            </a:r>
            <a:r>
              <a:rPr lang="en-GB" sz="1100">
                <a:solidFill>
                  <a:srgbClr val="383A42"/>
                </a:solidFill>
              </a:rPr>
              <a:t>:</a:t>
            </a:r>
            <a:r>
              <a:rPr lang="en-GB" sz="1100">
                <a:solidFill>
                  <a:srgbClr val="4078F2"/>
                </a:solidFill>
              </a:rPr>
              <a:t>**</a:t>
            </a:r>
            <a:r>
              <a:rPr lang="en-GB" sz="1100">
                <a:solidFill>
                  <a:schemeClr val="dk1"/>
                </a:solidFill>
              </a:rPr>
              <a:t> Streamlit 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 </a:t>
            </a:r>
            <a:r>
              <a:rPr lang="en-GB" sz="1100">
                <a:solidFill>
                  <a:srgbClr val="4078F2"/>
                </a:solidFill>
              </a:rPr>
              <a:t>**</a:t>
            </a:r>
            <a:r>
              <a:rPr lang="en-GB" sz="1100">
                <a:solidFill>
                  <a:schemeClr val="dk1"/>
                </a:solidFill>
              </a:rPr>
              <a:t>Deployment</a:t>
            </a:r>
            <a:r>
              <a:rPr lang="en-GB" sz="1100">
                <a:solidFill>
                  <a:srgbClr val="383A42"/>
                </a:solidFill>
              </a:rPr>
              <a:t>:</a:t>
            </a:r>
            <a:r>
              <a:rPr lang="en-GB" sz="1100">
                <a:solidFill>
                  <a:srgbClr val="4078F2"/>
                </a:solidFill>
              </a:rPr>
              <a:t>**</a:t>
            </a:r>
            <a:r>
              <a:rPr lang="en-GB" sz="1100">
                <a:solidFill>
                  <a:schemeClr val="dk1"/>
                </a:solidFill>
              </a:rPr>
              <a:t> Streamlit Cloud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Data Storage 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 </a:t>
            </a:r>
            <a:r>
              <a:rPr lang="en-GB" sz="1100">
                <a:solidFill>
                  <a:srgbClr val="4078F2"/>
                </a:solidFill>
              </a:rPr>
              <a:t>**</a:t>
            </a:r>
            <a:r>
              <a:rPr lang="en-GB" sz="1100">
                <a:solidFill>
                  <a:schemeClr val="dk1"/>
                </a:solidFill>
              </a:rPr>
              <a:t>User Preferences</a:t>
            </a:r>
            <a:r>
              <a:rPr lang="en-GB" sz="1100">
                <a:solidFill>
                  <a:srgbClr val="383A42"/>
                </a:solidFill>
              </a:rPr>
              <a:t>:</a:t>
            </a:r>
            <a:r>
              <a:rPr lang="en-GB" sz="1100">
                <a:solidFill>
                  <a:srgbClr val="4078F2"/>
                </a:solidFill>
              </a:rPr>
              <a:t>**</a:t>
            </a:r>
            <a:r>
              <a:rPr lang="en-GB" sz="1100">
                <a:solidFill>
                  <a:schemeClr val="dk1"/>
                </a:solidFill>
              </a:rPr>
              <a:t> SQLite 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 </a:t>
            </a:r>
            <a:r>
              <a:rPr lang="en-GB" sz="1100">
                <a:solidFill>
                  <a:srgbClr val="4078F2"/>
                </a:solidFill>
              </a:rPr>
              <a:t>**</a:t>
            </a:r>
            <a:r>
              <a:rPr lang="en-GB" sz="1100">
                <a:solidFill>
                  <a:schemeClr val="dk1"/>
                </a:solidFill>
              </a:rPr>
              <a:t>Cache</a:t>
            </a:r>
            <a:r>
              <a:rPr lang="en-GB" sz="1100">
                <a:solidFill>
                  <a:srgbClr val="383A42"/>
                </a:solidFill>
              </a:rPr>
              <a:t>:</a:t>
            </a:r>
            <a:r>
              <a:rPr lang="en-GB" sz="1100">
                <a:solidFill>
                  <a:srgbClr val="4078F2"/>
                </a:solidFill>
              </a:rPr>
              <a:t>**</a:t>
            </a:r>
            <a:r>
              <a:rPr lang="en-GB" sz="1100">
                <a:solidFill>
                  <a:schemeClr val="dk1"/>
                </a:solidFill>
              </a:rPr>
              <a:t> Redis </a:t>
            </a:r>
            <a:r>
              <a:rPr lang="en-GB" sz="1100">
                <a:solidFill>
                  <a:srgbClr val="383A42"/>
                </a:solidFill>
              </a:rPr>
              <a:t>(</a:t>
            </a:r>
            <a:r>
              <a:rPr lang="en-GB" sz="1100">
                <a:solidFill>
                  <a:srgbClr val="A626A4"/>
                </a:solidFill>
              </a:rPr>
              <a:t>for</a:t>
            </a:r>
            <a:r>
              <a:rPr lang="en-GB" sz="1100">
                <a:solidFill>
                  <a:schemeClr val="dk1"/>
                </a:solidFill>
              </a:rPr>
              <a:t> API responses</a:t>
            </a:r>
            <a:r>
              <a:rPr lang="en-GB" sz="1100">
                <a:solidFill>
                  <a:srgbClr val="383A42"/>
                </a:solidFill>
              </a:rPr>
              <a:t>)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720"/>
              <a:t>🔧 System Components</a:t>
            </a:r>
            <a:endParaRPr b="1" sz="1720"/>
          </a:p>
        </p:txBody>
      </p:sp>
      <p:sp>
        <p:nvSpPr>
          <p:cNvPr id="127" name="Google Shape;127;p24"/>
          <p:cNvSpPr txBox="1"/>
          <p:nvPr>
            <p:ph idx="1" type="body"/>
          </p:nvPr>
        </p:nvSpPr>
        <p:spPr>
          <a:xfrm>
            <a:off x="311700" y="9459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📊 System Flow Diagram</a:t>
            </a:r>
            <a:endParaRPr b="1" sz="13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28" name="Google Shape;12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2775" y="34163"/>
            <a:ext cx="1936875" cy="5075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20"/>
              <a:t>Project</a:t>
            </a:r>
            <a:r>
              <a:rPr lang="en-GB"/>
              <a:t> </a:t>
            </a:r>
            <a:r>
              <a:rPr b="1" lang="en-GB" sz="1720"/>
              <a:t>&amp;Risk Management</a:t>
            </a:r>
            <a:endParaRPr b="1" sz="1720"/>
          </a:p>
        </p:txBody>
      </p:sp>
      <p:sp>
        <p:nvSpPr>
          <p:cNvPr id="134" name="Google Shape;134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6"/>
          <p:cNvSpPr txBox="1"/>
          <p:nvPr>
            <p:ph type="title"/>
          </p:nvPr>
        </p:nvSpPr>
        <p:spPr>
          <a:xfrm>
            <a:off x="311700" y="211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700"/>
              <a:t>🚀 Future Work</a:t>
            </a:r>
            <a:endParaRPr b="1" sz="1700"/>
          </a:p>
        </p:txBody>
      </p:sp>
      <p:sp>
        <p:nvSpPr>
          <p:cNvPr id="140" name="Google Shape;140;p26"/>
          <p:cNvSpPr txBox="1"/>
          <p:nvPr>
            <p:ph idx="1" type="body"/>
          </p:nvPr>
        </p:nvSpPr>
        <p:spPr>
          <a:xfrm>
            <a:off x="71850" y="648500"/>
            <a:ext cx="2385600" cy="3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100">
                <a:solidFill>
                  <a:srgbClr val="A0A1A7"/>
                </a:solidFill>
              </a:rPr>
              <a:t>Phase 1 (Current Project)</a:t>
            </a:r>
            <a:r>
              <a:rPr lang="en-GB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 ✅ Single city </a:t>
            </a:r>
            <a:r>
              <a:rPr lang="en-GB" sz="1100">
                <a:solidFill>
                  <a:srgbClr val="383A42"/>
                </a:solidFill>
              </a:rPr>
              <a:t>(</a:t>
            </a:r>
            <a:r>
              <a:rPr lang="en-GB" sz="1100">
                <a:solidFill>
                  <a:schemeClr val="dk1"/>
                </a:solidFill>
              </a:rPr>
              <a:t>Istanbul</a:t>
            </a:r>
            <a:r>
              <a:rPr lang="en-GB" sz="1100">
                <a:solidFill>
                  <a:srgbClr val="383A42"/>
                </a:solidFill>
              </a:rPr>
              <a:t>)</a:t>
            </a:r>
            <a:r>
              <a:rPr lang="en-GB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 ✅ Manual calendar sync 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 ✅ Basic preferences 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41" name="Google Shape;141;p26"/>
          <p:cNvSpPr txBox="1"/>
          <p:nvPr/>
        </p:nvSpPr>
        <p:spPr>
          <a:xfrm>
            <a:off x="2510750" y="2041000"/>
            <a:ext cx="2535600" cy="22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1100">
                <a:solidFill>
                  <a:srgbClr val="A0A1A7"/>
                </a:solidFill>
              </a:rPr>
              <a:t>Phase 2 </a:t>
            </a:r>
            <a:r>
              <a:rPr lang="en-GB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 🔄 Multi</a:t>
            </a: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city support 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 🔄 International festivals 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 🔄 Travel cost estimation 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 🔄 Hotel</a:t>
            </a:r>
            <a:r>
              <a:rPr lang="en-GB" sz="1100">
                <a:solidFill>
                  <a:srgbClr val="4078F2"/>
                </a:solidFill>
              </a:rPr>
              <a:t>/</a:t>
            </a:r>
            <a:r>
              <a:rPr lang="en-GB" sz="1100">
                <a:solidFill>
                  <a:schemeClr val="dk1"/>
                </a:solidFill>
              </a:rPr>
              <a:t>flight booking </a:t>
            </a:r>
            <a:endParaRPr i="1" sz="1100">
              <a:solidFill>
                <a:srgbClr val="A0A1A7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2" name="Google Shape;142;p26"/>
          <p:cNvSpPr txBox="1"/>
          <p:nvPr/>
        </p:nvSpPr>
        <p:spPr>
          <a:xfrm>
            <a:off x="5508800" y="3338275"/>
            <a:ext cx="3568500" cy="22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100">
                <a:solidFill>
                  <a:srgbClr val="A0A1A7"/>
                </a:solidFill>
              </a:rPr>
              <a:t>Phase 3 (Advanced Features)</a:t>
            </a:r>
            <a:r>
              <a:rPr lang="en-GB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 🎯 Group recommendations </a:t>
            </a:r>
            <a:r>
              <a:rPr lang="en-GB" sz="1100">
                <a:solidFill>
                  <a:srgbClr val="383A42"/>
                </a:solidFill>
              </a:rPr>
              <a:t>(</a:t>
            </a:r>
            <a:r>
              <a:rPr lang="en-GB" sz="1100">
                <a:solidFill>
                  <a:schemeClr val="dk1"/>
                </a:solidFill>
              </a:rPr>
              <a:t>friends</a:t>
            </a:r>
            <a:r>
              <a:rPr lang="en-GB" sz="1100">
                <a:solidFill>
                  <a:srgbClr val="383A42"/>
                </a:solidFill>
              </a:rPr>
              <a:t>)</a:t>
            </a:r>
            <a:r>
              <a:rPr lang="en-GB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 🎟️ Automatic ticket purchasing 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 📱 Mobile app </a:t>
            </a:r>
            <a:r>
              <a:rPr lang="en-GB" sz="1100">
                <a:solidFill>
                  <a:srgbClr val="383A42"/>
                </a:solidFill>
              </a:rPr>
              <a:t>(</a:t>
            </a:r>
            <a:r>
              <a:rPr lang="en-GB" sz="1100">
                <a:solidFill>
                  <a:schemeClr val="dk1"/>
                </a:solidFill>
              </a:rPr>
              <a:t>React Native</a:t>
            </a:r>
            <a:r>
              <a:rPr lang="en-GB" sz="1100">
                <a:solidFill>
                  <a:srgbClr val="383A42"/>
                </a:solidFill>
              </a:rPr>
              <a:t>)</a:t>
            </a:r>
            <a:r>
              <a:rPr lang="en-GB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 🌍 Multi</a:t>
            </a: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language support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700"/>
              <a:t> 🔢 Evaluation Metrics</a:t>
            </a:r>
            <a:endParaRPr b="1" sz="1700"/>
          </a:p>
        </p:txBody>
      </p:sp>
      <p:sp>
        <p:nvSpPr>
          <p:cNvPr id="148" name="Google Shape;148;p27"/>
          <p:cNvSpPr txBox="1"/>
          <p:nvPr>
            <p:ph idx="1" type="body"/>
          </p:nvPr>
        </p:nvSpPr>
        <p:spPr>
          <a:xfrm>
            <a:off x="311700" y="855050"/>
            <a:ext cx="8520600" cy="37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100">
                <a:solidFill>
                  <a:srgbClr val="A0A1A7"/>
                </a:solidFill>
              </a:rPr>
              <a:t>Accuracy</a:t>
            </a:r>
            <a:r>
              <a:rPr lang="en-GB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 </a:t>
            </a:r>
            <a:r>
              <a:rPr lang="en-GB" sz="1100">
                <a:solidFill>
                  <a:srgbClr val="4078F2"/>
                </a:solidFill>
              </a:rPr>
              <a:t>**</a:t>
            </a:r>
            <a:r>
              <a:rPr lang="en-GB" sz="1100">
                <a:solidFill>
                  <a:schemeClr val="dk1"/>
                </a:solidFill>
              </a:rPr>
              <a:t>Recommendation Hit Rate</a:t>
            </a:r>
            <a:r>
              <a:rPr lang="en-GB" sz="1100">
                <a:solidFill>
                  <a:srgbClr val="383A42"/>
                </a:solidFill>
              </a:rPr>
              <a:t>:</a:t>
            </a:r>
            <a:r>
              <a:rPr lang="en-GB" sz="1100">
                <a:solidFill>
                  <a:srgbClr val="4078F2"/>
                </a:solidFill>
              </a:rPr>
              <a:t>**</a:t>
            </a:r>
            <a:r>
              <a:rPr lang="en-GB" sz="1100">
                <a:solidFill>
                  <a:schemeClr val="dk1"/>
                </a:solidFill>
              </a:rPr>
              <a:t>  (</a:t>
            </a:r>
            <a:r>
              <a:rPr lang="en-GB" sz="1100">
                <a:solidFill>
                  <a:srgbClr val="4078F2"/>
                </a:solidFill>
              </a:rPr>
              <a:t>%</a:t>
            </a:r>
            <a:r>
              <a:rPr lang="en-GB" sz="1100">
                <a:solidFill>
                  <a:schemeClr val="dk1"/>
                </a:solidFill>
              </a:rPr>
              <a:t> of recommended plays actually attended )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4078F2"/>
                </a:solidFill>
              </a:rPr>
              <a:t>-**</a:t>
            </a:r>
            <a:r>
              <a:rPr lang="en-GB" sz="1100">
                <a:solidFill>
                  <a:schemeClr val="dk1"/>
                </a:solidFill>
              </a:rPr>
              <a:t>Target</a:t>
            </a:r>
            <a:r>
              <a:rPr lang="en-GB" sz="1100">
                <a:solidFill>
                  <a:srgbClr val="383A42"/>
                </a:solidFill>
              </a:rPr>
              <a:t>:</a:t>
            </a:r>
            <a:r>
              <a:rPr lang="en-GB" sz="1100">
                <a:solidFill>
                  <a:srgbClr val="4078F2"/>
                </a:solidFill>
              </a:rPr>
              <a:t>**</a:t>
            </a:r>
            <a:r>
              <a:rPr lang="en-GB" sz="1100">
                <a:solidFill>
                  <a:schemeClr val="dk1"/>
                </a:solidFill>
              </a:rPr>
              <a:t> (i.e. </a:t>
            </a:r>
            <a:r>
              <a:rPr lang="en-GB" sz="1100">
                <a:solidFill>
                  <a:srgbClr val="B76B01"/>
                </a:solidFill>
              </a:rPr>
              <a:t>70</a:t>
            </a:r>
            <a:r>
              <a:rPr lang="en-GB" sz="1100">
                <a:solidFill>
                  <a:srgbClr val="4078F2"/>
                </a:solidFill>
              </a:rPr>
              <a:t>% and above 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GB" sz="1100">
                <a:solidFill>
                  <a:srgbClr val="A0A1A7"/>
                </a:solidFill>
              </a:rPr>
              <a:t>User Satisfaction</a:t>
            </a:r>
            <a:r>
              <a:rPr lang="en-GB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 </a:t>
            </a:r>
            <a:r>
              <a:rPr lang="en-GB" sz="1100">
                <a:solidFill>
                  <a:srgbClr val="4078F2"/>
                </a:solidFill>
              </a:rPr>
              <a:t>**</a:t>
            </a:r>
            <a:r>
              <a:rPr lang="en-GB" sz="1100">
                <a:solidFill>
                  <a:schemeClr val="dk1"/>
                </a:solidFill>
              </a:rPr>
              <a:t>Average Rating</a:t>
            </a:r>
            <a:r>
              <a:rPr lang="en-GB" sz="1100">
                <a:solidFill>
                  <a:srgbClr val="383A42"/>
                </a:solidFill>
              </a:rPr>
              <a:t>:</a:t>
            </a:r>
            <a:r>
              <a:rPr lang="en-GB" sz="1100">
                <a:solidFill>
                  <a:srgbClr val="4078F2"/>
                </a:solidFill>
              </a:rPr>
              <a:t>**</a:t>
            </a:r>
            <a:r>
              <a:rPr lang="en-GB" sz="1100">
                <a:solidFill>
                  <a:schemeClr val="dk1"/>
                </a:solidFill>
              </a:rPr>
              <a:t> (User feedback on recommendations) 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 </a:t>
            </a:r>
            <a:r>
              <a:rPr lang="en-GB" sz="1100">
                <a:solidFill>
                  <a:srgbClr val="4078F2"/>
                </a:solidFill>
              </a:rPr>
              <a:t>**</a:t>
            </a:r>
            <a:r>
              <a:rPr lang="en-GB" sz="1100">
                <a:solidFill>
                  <a:schemeClr val="dk1"/>
                </a:solidFill>
              </a:rPr>
              <a:t>Target</a:t>
            </a:r>
            <a:r>
              <a:rPr lang="en-GB" sz="1100">
                <a:solidFill>
                  <a:srgbClr val="383A42"/>
                </a:solidFill>
              </a:rPr>
              <a:t>:</a:t>
            </a:r>
            <a:r>
              <a:rPr lang="en-GB" sz="1100">
                <a:solidFill>
                  <a:srgbClr val="4078F2"/>
                </a:solidFill>
              </a:rPr>
              <a:t>**</a:t>
            </a:r>
            <a:r>
              <a:rPr lang="en-GB" sz="1100">
                <a:solidFill>
                  <a:schemeClr val="dk1"/>
                </a:solidFill>
              </a:rPr>
              <a:t> (i.e. </a:t>
            </a:r>
            <a:r>
              <a:rPr lang="en-GB" sz="1100">
                <a:solidFill>
                  <a:srgbClr val="B76B01"/>
                </a:solidFill>
              </a:rPr>
              <a:t>4.2</a:t>
            </a:r>
            <a:r>
              <a:rPr lang="en-GB" sz="1100">
                <a:solidFill>
                  <a:srgbClr val="4078F2"/>
                </a:solidFill>
              </a:rPr>
              <a:t>/</a:t>
            </a:r>
            <a:r>
              <a:rPr lang="en-GB" sz="1100">
                <a:solidFill>
                  <a:srgbClr val="B76B01"/>
                </a:solidFill>
              </a:rPr>
              <a:t>5.0)</a:t>
            </a:r>
            <a:endParaRPr sz="1100">
              <a:solidFill>
                <a:srgbClr val="B76B0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GB" sz="1100">
                <a:solidFill>
                  <a:srgbClr val="A0A1A7"/>
                </a:solidFill>
              </a:rPr>
              <a:t>System Performance</a:t>
            </a:r>
            <a:r>
              <a:rPr lang="en-GB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 </a:t>
            </a:r>
            <a:r>
              <a:rPr lang="en-GB" sz="1100">
                <a:solidFill>
                  <a:srgbClr val="4078F2"/>
                </a:solidFill>
              </a:rPr>
              <a:t>**</a:t>
            </a:r>
            <a:r>
              <a:rPr lang="en-GB" sz="1100">
                <a:solidFill>
                  <a:schemeClr val="dk1"/>
                </a:solidFill>
              </a:rPr>
              <a:t>Response Time</a:t>
            </a:r>
            <a:r>
              <a:rPr lang="en-GB" sz="1100">
                <a:solidFill>
                  <a:srgbClr val="383A42"/>
                </a:solidFill>
              </a:rPr>
              <a:t>:</a:t>
            </a:r>
            <a:r>
              <a:rPr lang="en-GB" sz="1100">
                <a:solidFill>
                  <a:srgbClr val="4078F2"/>
                </a:solidFill>
              </a:rPr>
              <a:t>**</a:t>
            </a:r>
            <a:r>
              <a:rPr lang="en-GB" sz="1100">
                <a:solidFill>
                  <a:schemeClr val="dk1"/>
                </a:solidFill>
              </a:rPr>
              <a:t> (Time to generate plan)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 </a:t>
            </a:r>
            <a:r>
              <a:rPr lang="en-GB" sz="1100">
                <a:solidFill>
                  <a:srgbClr val="4078F2"/>
                </a:solidFill>
              </a:rPr>
              <a:t>**</a:t>
            </a:r>
            <a:r>
              <a:rPr lang="en-GB" sz="1100">
                <a:solidFill>
                  <a:schemeClr val="dk1"/>
                </a:solidFill>
              </a:rPr>
              <a:t>Target</a:t>
            </a:r>
            <a:r>
              <a:rPr lang="en-GB" sz="1100">
                <a:solidFill>
                  <a:srgbClr val="383A42"/>
                </a:solidFill>
              </a:rPr>
              <a:t>:</a:t>
            </a:r>
            <a:r>
              <a:rPr lang="en-GB" sz="1100">
                <a:solidFill>
                  <a:srgbClr val="4078F2"/>
                </a:solidFill>
              </a:rPr>
              <a:t>**</a:t>
            </a:r>
            <a:r>
              <a:rPr lang="en-GB" sz="1100">
                <a:solidFill>
                  <a:schemeClr val="dk1"/>
                </a:solidFill>
              </a:rPr>
              <a:t> (i.e. </a:t>
            </a:r>
            <a:r>
              <a:rPr lang="en-GB" sz="1100">
                <a:solidFill>
                  <a:srgbClr val="4078F2"/>
                </a:solidFill>
              </a:rPr>
              <a:t>&lt;</a:t>
            </a:r>
            <a:r>
              <a:rPr lang="en-GB" sz="1100">
                <a:solidFill>
                  <a:schemeClr val="dk1"/>
                </a:solidFill>
              </a:rPr>
              <a:t> </a:t>
            </a:r>
            <a:r>
              <a:rPr lang="en-GB" sz="1100">
                <a:solidFill>
                  <a:srgbClr val="B76B01"/>
                </a:solidFill>
              </a:rPr>
              <a:t>10</a:t>
            </a:r>
            <a:r>
              <a:rPr lang="en-GB" sz="1100">
                <a:solidFill>
                  <a:schemeClr val="dk1"/>
                </a:solidFill>
              </a:rPr>
              <a:t> seconds)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GB" sz="1100">
                <a:solidFill>
                  <a:srgbClr val="A0A1A7"/>
                </a:solidFill>
              </a:rPr>
              <a:t>Coverage</a:t>
            </a:r>
            <a:r>
              <a:rPr lang="en-GB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 </a:t>
            </a:r>
            <a:r>
              <a:rPr lang="en-GB" sz="1100">
                <a:solidFill>
                  <a:srgbClr val="4078F2"/>
                </a:solidFill>
              </a:rPr>
              <a:t>**</a:t>
            </a:r>
            <a:r>
              <a:rPr lang="en-GB" sz="1100">
                <a:solidFill>
                  <a:schemeClr val="dk1"/>
                </a:solidFill>
              </a:rPr>
              <a:t>Play Database</a:t>
            </a:r>
            <a:r>
              <a:rPr lang="en-GB" sz="1100">
                <a:solidFill>
                  <a:srgbClr val="383A42"/>
                </a:solidFill>
              </a:rPr>
              <a:t>:</a:t>
            </a:r>
            <a:r>
              <a:rPr lang="en-GB" sz="1100">
                <a:solidFill>
                  <a:srgbClr val="4078F2"/>
                </a:solidFill>
              </a:rPr>
              <a:t>**</a:t>
            </a:r>
            <a:r>
              <a:rPr lang="en-GB" sz="1100">
                <a:solidFill>
                  <a:schemeClr val="dk1"/>
                </a:solidFill>
              </a:rPr>
              <a:t> Number of plays tracked 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 </a:t>
            </a:r>
            <a:r>
              <a:rPr lang="en-GB" sz="1100">
                <a:solidFill>
                  <a:srgbClr val="4078F2"/>
                </a:solidFill>
              </a:rPr>
              <a:t>**</a:t>
            </a:r>
            <a:r>
              <a:rPr lang="en-GB" sz="1100">
                <a:solidFill>
                  <a:schemeClr val="dk1"/>
                </a:solidFill>
              </a:rPr>
              <a:t>Target</a:t>
            </a:r>
            <a:r>
              <a:rPr lang="en-GB" sz="1100">
                <a:solidFill>
                  <a:srgbClr val="383A42"/>
                </a:solidFill>
              </a:rPr>
              <a:t>:</a:t>
            </a:r>
            <a:r>
              <a:rPr lang="en-GB" sz="1100">
                <a:solidFill>
                  <a:srgbClr val="4078F2"/>
                </a:solidFill>
              </a:rPr>
              <a:t>**</a:t>
            </a:r>
            <a:r>
              <a:rPr lang="en-GB" sz="1100">
                <a:solidFill>
                  <a:schemeClr val="dk1"/>
                </a:solidFill>
              </a:rPr>
              <a:t> (i.e. </a:t>
            </a:r>
            <a:r>
              <a:rPr lang="en-GB" sz="1100">
                <a:solidFill>
                  <a:srgbClr val="B76B01"/>
                </a:solidFill>
              </a:rPr>
              <a:t>50 plus</a:t>
            </a:r>
            <a:r>
              <a:rPr lang="en-GB" sz="1100">
                <a:solidFill>
                  <a:schemeClr val="dk1"/>
                </a:solidFill>
              </a:rPr>
              <a:t> active plays)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700"/>
              <a:t> (Expected) Learning Outcomes</a:t>
            </a:r>
            <a:endParaRPr b="1" sz="1700"/>
          </a:p>
        </p:txBody>
      </p:sp>
      <p:sp>
        <p:nvSpPr>
          <p:cNvPr id="154" name="Google Shape;154;p28"/>
          <p:cNvSpPr txBox="1"/>
          <p:nvPr>
            <p:ph idx="1" type="body"/>
          </p:nvPr>
        </p:nvSpPr>
        <p:spPr>
          <a:xfrm>
            <a:off x="311700" y="821750"/>
            <a:ext cx="8520600" cy="374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B76B01"/>
                </a:solidFill>
              </a:rPr>
              <a:t>1.</a:t>
            </a:r>
            <a:r>
              <a:rPr lang="en-GB" sz="1100">
                <a:solidFill>
                  <a:schemeClr val="dk1"/>
                </a:solidFill>
              </a:rPr>
              <a:t> Agentic AI Patterns</a:t>
            </a:r>
            <a:endParaRPr sz="11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 Planner architecture </a:t>
            </a:r>
            <a:endParaRPr sz="11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 Tool calling integration </a:t>
            </a:r>
            <a:endParaRPr sz="11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 Reflection loops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B76B01"/>
                </a:solidFill>
              </a:rPr>
              <a:t>2.</a:t>
            </a:r>
            <a:r>
              <a:rPr lang="en-GB" sz="1100">
                <a:solidFill>
                  <a:schemeClr val="dk1"/>
                </a:solidFill>
              </a:rPr>
              <a:t> Prompting Techniques</a:t>
            </a:r>
            <a:endParaRPr sz="1100">
              <a:solidFill>
                <a:srgbClr val="4078F2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 Zero</a:t>
            </a: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shot </a:t>
            </a:r>
            <a:r>
              <a:rPr lang="en-GB" sz="1100">
                <a:solidFill>
                  <a:srgbClr val="A626A4"/>
                </a:solidFill>
              </a:rPr>
              <a:t>for</a:t>
            </a:r>
            <a:r>
              <a:rPr lang="en-GB" sz="1100">
                <a:solidFill>
                  <a:schemeClr val="dk1"/>
                </a:solidFill>
              </a:rPr>
              <a:t> quick queries </a:t>
            </a:r>
            <a:endParaRPr sz="11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 Few</a:t>
            </a: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shot </a:t>
            </a:r>
            <a:r>
              <a:rPr lang="en-GB" sz="1100">
                <a:solidFill>
                  <a:srgbClr val="A626A4"/>
                </a:solidFill>
              </a:rPr>
              <a:t>for </a:t>
            </a:r>
            <a:r>
              <a:rPr lang="en-GB" sz="1100">
                <a:solidFill>
                  <a:schemeClr val="dk1"/>
                </a:solidFill>
              </a:rPr>
              <a:t>preference learning </a:t>
            </a:r>
            <a:endParaRPr sz="11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 Chain</a:t>
            </a: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of</a:t>
            </a: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thought </a:t>
            </a:r>
            <a:r>
              <a:rPr lang="en-GB" sz="1100">
                <a:solidFill>
                  <a:srgbClr val="A626A4"/>
                </a:solidFill>
              </a:rPr>
              <a:t>for</a:t>
            </a:r>
            <a:r>
              <a:rPr lang="en-GB" sz="1100">
                <a:solidFill>
                  <a:schemeClr val="dk1"/>
                </a:solidFill>
              </a:rPr>
              <a:t> </a:t>
            </a:r>
            <a:r>
              <a:rPr lang="en-GB" sz="1100">
                <a:solidFill>
                  <a:srgbClr val="50A14F"/>
                </a:solidFill>
              </a:rPr>
              <a:t>complex</a:t>
            </a:r>
            <a:r>
              <a:rPr lang="en-GB" sz="1100">
                <a:solidFill>
                  <a:schemeClr val="dk1"/>
                </a:solidFill>
              </a:rPr>
              <a:t> reasoning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B76B01"/>
                </a:solidFill>
              </a:rPr>
              <a:t>3.</a:t>
            </a:r>
            <a:r>
              <a:rPr lang="en-GB" sz="1100">
                <a:solidFill>
                  <a:schemeClr val="dk1"/>
                </a:solidFill>
              </a:rPr>
              <a:t> Real</a:t>
            </a: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World Integration </a:t>
            </a:r>
            <a:endParaRPr sz="11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 API integration </a:t>
            </a:r>
            <a:r>
              <a:rPr lang="en-GB" sz="1100">
                <a:solidFill>
                  <a:srgbClr val="383A42"/>
                </a:solidFill>
              </a:rPr>
              <a:t>(</a:t>
            </a:r>
            <a:r>
              <a:rPr lang="en-GB" sz="1100">
                <a:solidFill>
                  <a:schemeClr val="dk1"/>
                </a:solidFill>
              </a:rPr>
              <a:t>Google Calendar</a:t>
            </a:r>
            <a:r>
              <a:rPr lang="en-GB" sz="1100">
                <a:solidFill>
                  <a:srgbClr val="383A42"/>
                </a:solidFill>
              </a:rPr>
              <a:t>,</a:t>
            </a:r>
            <a:r>
              <a:rPr lang="en-GB" sz="1100">
                <a:solidFill>
                  <a:schemeClr val="dk1"/>
                </a:solidFill>
              </a:rPr>
              <a:t> Maps</a:t>
            </a:r>
            <a:r>
              <a:rPr lang="en-GB" sz="1100">
                <a:solidFill>
                  <a:srgbClr val="383A42"/>
                </a:solidFill>
              </a:rPr>
              <a:t>)</a:t>
            </a:r>
            <a:r>
              <a:rPr lang="en-GB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 Web scraping </a:t>
            </a:r>
            <a:r>
              <a:rPr lang="en-GB" sz="1100">
                <a:solidFill>
                  <a:srgbClr val="383A42"/>
                </a:solidFill>
              </a:rPr>
              <a:t>(</a:t>
            </a:r>
            <a:r>
              <a:rPr lang="en-GB" sz="1100">
                <a:solidFill>
                  <a:schemeClr val="dk1"/>
                </a:solidFill>
              </a:rPr>
              <a:t>theater sites</a:t>
            </a:r>
            <a:r>
              <a:rPr lang="en-GB" sz="1100">
                <a:solidFill>
                  <a:srgbClr val="383A42"/>
                </a:solidFill>
              </a:rPr>
              <a:t>)</a:t>
            </a:r>
            <a:r>
              <a:rPr lang="en-GB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 Data persistence </a:t>
            </a:r>
            <a:r>
              <a:rPr lang="en-GB" sz="1100">
                <a:solidFill>
                  <a:srgbClr val="383A42"/>
                </a:solidFill>
              </a:rPr>
              <a:t>(</a:t>
            </a:r>
            <a:r>
              <a:rPr lang="en-GB" sz="1100">
                <a:solidFill>
                  <a:schemeClr val="dk1"/>
                </a:solidFill>
              </a:rPr>
              <a:t>user preferences</a:t>
            </a:r>
            <a:r>
              <a:rPr lang="en-GB" sz="1100">
                <a:solidFill>
                  <a:srgbClr val="383A42"/>
                </a:solidFill>
              </a:rPr>
              <a:t>)</a:t>
            </a:r>
            <a:endParaRPr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700"/>
              <a:t>References</a:t>
            </a:r>
            <a:endParaRPr b="1" sz="1700"/>
          </a:p>
        </p:txBody>
      </p:sp>
      <p:sp>
        <p:nvSpPr>
          <p:cNvPr id="160" name="Google Shape;160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Course Materials</a:t>
            </a:r>
            <a:r>
              <a:rPr lang="en-GB" sz="1100">
                <a:solidFill>
                  <a:srgbClr val="383A42"/>
                </a:solidFill>
              </a:rPr>
              <a:t>:</a:t>
            </a:r>
            <a:r>
              <a:rPr lang="en-GB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 Lecture Slides</a:t>
            </a:r>
            <a:r>
              <a:rPr lang="en-GB" sz="1100">
                <a:solidFill>
                  <a:srgbClr val="383A42"/>
                </a:solidFill>
              </a:rPr>
              <a:t>:</a:t>
            </a:r>
            <a:r>
              <a:rPr lang="en-GB" sz="1100">
                <a:solidFill>
                  <a:schemeClr val="dk1"/>
                </a:solidFill>
              </a:rPr>
              <a:t> </a:t>
            </a:r>
            <a:r>
              <a:rPr lang="en-GB" sz="1100">
                <a:solidFill>
                  <a:srgbClr val="50A14F"/>
                </a:solidFill>
              </a:rPr>
              <a:t>"Prompting LLMs"</a:t>
            </a:r>
            <a:r>
              <a:rPr lang="en-GB" sz="1100">
                <a:solidFill>
                  <a:schemeClr val="dk1"/>
                </a:solidFill>
              </a:rPr>
              <a:t> </a:t>
            </a:r>
            <a:r>
              <a:rPr lang="en-GB" sz="1100">
                <a:solidFill>
                  <a:srgbClr val="383A42"/>
                </a:solidFill>
              </a:rPr>
              <a:t>(</a:t>
            </a:r>
            <a:r>
              <a:rPr lang="en-GB" sz="1100">
                <a:solidFill>
                  <a:schemeClr val="dk1"/>
                </a:solidFill>
              </a:rPr>
              <a:t>Week </a:t>
            </a:r>
            <a:r>
              <a:rPr lang="en-GB" sz="1100">
                <a:solidFill>
                  <a:srgbClr val="B76B01"/>
                </a:solidFill>
              </a:rPr>
              <a:t>3</a:t>
            </a:r>
            <a:r>
              <a:rPr lang="en-GB" sz="1100">
                <a:solidFill>
                  <a:srgbClr val="383A42"/>
                </a:solidFill>
              </a:rPr>
              <a:t>)</a:t>
            </a:r>
            <a:r>
              <a:rPr lang="en-GB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 Lecture Slides</a:t>
            </a:r>
            <a:r>
              <a:rPr lang="en-GB" sz="1100">
                <a:solidFill>
                  <a:srgbClr val="383A42"/>
                </a:solidFill>
              </a:rPr>
              <a:t>:</a:t>
            </a:r>
            <a:r>
              <a:rPr lang="en-GB" sz="1100">
                <a:solidFill>
                  <a:schemeClr val="dk1"/>
                </a:solidFill>
              </a:rPr>
              <a:t> </a:t>
            </a:r>
            <a:r>
              <a:rPr lang="en-GB" sz="1100">
                <a:solidFill>
                  <a:srgbClr val="50A14F"/>
                </a:solidFill>
              </a:rPr>
              <a:t>"Architecture"</a:t>
            </a:r>
            <a:r>
              <a:rPr lang="en-GB" sz="1100">
                <a:solidFill>
                  <a:srgbClr val="383A42"/>
                </a:solidFill>
              </a:rPr>
              <a:t>(</a:t>
            </a:r>
            <a:r>
              <a:rPr lang="en-GB" sz="1100">
                <a:solidFill>
                  <a:schemeClr val="dk1"/>
                </a:solidFill>
              </a:rPr>
              <a:t>Week </a:t>
            </a:r>
            <a:r>
              <a:rPr lang="en-GB" sz="1100">
                <a:solidFill>
                  <a:srgbClr val="B76B01"/>
                </a:solidFill>
              </a:rPr>
              <a:t>4</a:t>
            </a:r>
            <a:r>
              <a:rPr lang="en-GB" sz="1100">
                <a:solidFill>
                  <a:srgbClr val="383A42"/>
                </a:solidFill>
              </a:rPr>
              <a:t>)</a:t>
            </a:r>
            <a:r>
              <a:rPr lang="en-GB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Technical Resources</a:t>
            </a:r>
            <a:r>
              <a:rPr lang="en-GB" sz="1100">
                <a:solidFill>
                  <a:srgbClr val="383A42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 Anthropic Claude Documentation 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 LiteLLM Documentation </a:t>
            </a: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 Google Calendar API v3 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 YouTube Data API v3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Inspiration</a:t>
            </a:r>
            <a:r>
              <a:rPr lang="en-GB" sz="1100">
                <a:solidFill>
                  <a:srgbClr val="383A42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  Erdem </a:t>
            </a:r>
            <a:r>
              <a:rPr lang="en-GB" sz="1100">
                <a:solidFill>
                  <a:schemeClr val="dk1"/>
                </a:solidFill>
              </a:rPr>
              <a:t>Özcan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0"/>
          <p:cNvSpPr txBox="1"/>
          <p:nvPr>
            <p:ph idx="1" type="body"/>
          </p:nvPr>
        </p:nvSpPr>
        <p:spPr>
          <a:xfrm>
            <a:off x="311700" y="115525"/>
            <a:ext cx="8520600" cy="445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🙏 Thank You!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700"/>
              <a:t>Contact</a:t>
            </a:r>
            <a:endParaRPr b="1" sz="1700"/>
          </a:p>
        </p:txBody>
      </p:sp>
      <p:sp>
        <p:nvSpPr>
          <p:cNvPr id="171" name="Google Shape;171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4078F2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4078F2"/>
                </a:solidFill>
              </a:rPr>
              <a:t> Ayşegül Yavuz</a:t>
            </a:r>
            <a:r>
              <a:rPr lang="en-GB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 Email</a:t>
            </a:r>
            <a:r>
              <a:rPr lang="en-GB" sz="1100">
                <a:solidFill>
                  <a:srgbClr val="383A42"/>
                </a:solidFill>
              </a:rPr>
              <a:t>:</a:t>
            </a:r>
            <a:r>
              <a:rPr lang="en-GB" sz="1100">
                <a:solidFill>
                  <a:schemeClr val="dk1"/>
                </a:solidFill>
              </a:rPr>
              <a:t> </a:t>
            </a:r>
            <a:r>
              <a:rPr lang="en-GB" sz="1100" u="sng">
                <a:solidFill>
                  <a:schemeClr val="hlink"/>
                </a:solidFill>
                <a:hlinkClick r:id="rId3"/>
              </a:rPr>
              <a:t>mailtoayz@gmail.com</a:t>
            </a:r>
            <a:r>
              <a:rPr lang="en-GB" sz="1100">
                <a:solidFill>
                  <a:schemeClr val="dk1"/>
                </a:solidFill>
              </a:rPr>
              <a:t>  GitHub: </a:t>
            </a:r>
            <a:r>
              <a:rPr lang="en-GB" sz="1100" u="sng">
                <a:solidFill>
                  <a:schemeClr val="hlink"/>
                </a:solidFill>
                <a:hlinkClick r:id="rId4"/>
              </a:rPr>
              <a:t>https://github.com/ayz-90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rgbClr val="4078F2"/>
                </a:solidFill>
              </a:rPr>
              <a:t>Makbule Özge Özler</a:t>
            </a:r>
            <a:endParaRPr sz="1100">
              <a:solidFill>
                <a:srgbClr val="4078F2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  Email</a:t>
            </a:r>
            <a:r>
              <a:rPr lang="en-GB" sz="1100">
                <a:solidFill>
                  <a:srgbClr val="383A42"/>
                </a:solidFill>
              </a:rPr>
              <a:t>:</a:t>
            </a:r>
            <a:r>
              <a:rPr lang="en-GB" sz="1100">
                <a:solidFill>
                  <a:schemeClr val="dk1"/>
                </a:solidFill>
              </a:rPr>
              <a:t> </a:t>
            </a:r>
            <a:r>
              <a:rPr lang="en-GB" sz="1100" u="sng">
                <a:solidFill>
                  <a:schemeClr val="accent5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mak.ozgeozler@gmail.com</a:t>
            </a:r>
            <a:r>
              <a:rPr lang="en-GB" sz="1100">
                <a:solidFill>
                  <a:schemeClr val="dk1"/>
                </a:solidFill>
              </a:rPr>
              <a:t>  GitHub</a:t>
            </a:r>
            <a:r>
              <a:rPr lang="en-GB" sz="1100">
                <a:solidFill>
                  <a:srgbClr val="383A42"/>
                </a:solidFill>
              </a:rPr>
              <a:t>:</a:t>
            </a:r>
            <a:r>
              <a:rPr lang="en-GB" sz="1100">
                <a:solidFill>
                  <a:schemeClr val="dk1"/>
                </a:solidFill>
              </a:rPr>
              <a:t> </a:t>
            </a:r>
            <a:r>
              <a:rPr lang="en-GB" sz="1100" u="sng">
                <a:solidFill>
                  <a:schemeClr val="hlink"/>
                </a:solidFill>
                <a:hlinkClick r:id="rId6"/>
              </a:rPr>
              <a:t>github.com/ozgeozler93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rgbClr val="A0A1A7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100"/>
              <a:t>🔗 </a:t>
            </a:r>
            <a:r>
              <a:rPr b="1" lang="en-GB" sz="1700"/>
              <a:t>Demo </a:t>
            </a:r>
            <a:endParaRPr b="1" sz="1700"/>
          </a:p>
        </p:txBody>
      </p:sp>
      <p:sp>
        <p:nvSpPr>
          <p:cNvPr id="177" name="Google Shape;177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1100">
                <a:solidFill>
                  <a:srgbClr val="A0A1A7"/>
                </a:solidFill>
              </a:rPr>
              <a:t>Will be </a:t>
            </a:r>
            <a:r>
              <a:rPr i="1" lang="en-GB" sz="1100">
                <a:solidFill>
                  <a:srgbClr val="A0A1A7"/>
                </a:solidFill>
              </a:rPr>
              <a:t>Available At</a:t>
            </a:r>
            <a:r>
              <a:rPr lang="en-GB" sz="1100">
                <a:solidFill>
                  <a:schemeClr val="dk1"/>
                </a:solidFill>
              </a:rPr>
              <a:t> </a:t>
            </a:r>
            <a:r>
              <a:rPr lang="en-GB" sz="1100">
                <a:solidFill>
                  <a:srgbClr val="383A42"/>
                </a:solidFill>
              </a:rPr>
              <a:t>[</a:t>
            </a:r>
            <a:r>
              <a:rPr lang="en-GB" sz="1100">
                <a:solidFill>
                  <a:schemeClr val="dk1"/>
                </a:solidFill>
              </a:rPr>
              <a:t>theater</a:t>
            </a: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planner</a:t>
            </a: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demo</a:t>
            </a:r>
            <a:r>
              <a:rPr lang="en-GB" sz="1100">
                <a:solidFill>
                  <a:srgbClr val="383A42"/>
                </a:solidFill>
              </a:rPr>
              <a:t>.</a:t>
            </a:r>
            <a:r>
              <a:rPr lang="en-GB" sz="1100">
                <a:solidFill>
                  <a:schemeClr val="dk1"/>
                </a:solidFill>
              </a:rPr>
              <a:t>streamlit</a:t>
            </a:r>
            <a:r>
              <a:rPr lang="en-GB" sz="1100">
                <a:solidFill>
                  <a:srgbClr val="383A42"/>
                </a:solidFill>
              </a:rPr>
              <a:t>.</a:t>
            </a:r>
            <a:r>
              <a:rPr lang="en-GB" sz="1100">
                <a:solidFill>
                  <a:schemeClr val="dk1"/>
                </a:solidFill>
              </a:rPr>
              <a:t>app</a:t>
            </a:r>
            <a:r>
              <a:rPr lang="en-GB" sz="1100">
                <a:solidFill>
                  <a:srgbClr val="383A42"/>
                </a:solidFill>
              </a:rPr>
              <a:t>]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3"/>
          <p:cNvSpPr txBox="1"/>
          <p:nvPr>
            <p:ph type="title"/>
          </p:nvPr>
        </p:nvSpPr>
        <p:spPr>
          <a:xfrm>
            <a:off x="311700" y="1785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700"/>
              <a:t>💬 Q&amp;A </a:t>
            </a:r>
            <a:endParaRPr b="1" sz="1700"/>
          </a:p>
        </p:txBody>
      </p:sp>
      <p:sp>
        <p:nvSpPr>
          <p:cNvPr id="183" name="Google Shape;183;p33"/>
          <p:cNvSpPr txBox="1"/>
          <p:nvPr>
            <p:ph idx="1" type="body"/>
          </p:nvPr>
        </p:nvSpPr>
        <p:spPr>
          <a:xfrm>
            <a:off x="311700" y="795100"/>
            <a:ext cx="8520600" cy="40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Possible </a:t>
            </a:r>
            <a:r>
              <a:rPr b="1" lang="en-GB" sz="1100">
                <a:solidFill>
                  <a:schemeClr val="dk1"/>
                </a:solidFill>
              </a:rPr>
              <a:t>Common Questions</a:t>
            </a:r>
            <a:r>
              <a:rPr b="1" lang="en-GB" sz="1100">
                <a:solidFill>
                  <a:srgbClr val="383A42"/>
                </a:solidFill>
              </a:rPr>
              <a:t>:</a:t>
            </a:r>
            <a:endParaRPr b="1" sz="1100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Q1</a:t>
            </a:r>
            <a:r>
              <a:rPr lang="en-GB" sz="1100">
                <a:solidFill>
                  <a:srgbClr val="383A42"/>
                </a:solidFill>
              </a:rPr>
              <a:t>:</a:t>
            </a:r>
            <a:r>
              <a:rPr lang="en-GB" sz="1100">
                <a:solidFill>
                  <a:schemeClr val="dk1"/>
                </a:solidFill>
              </a:rPr>
              <a:t> How do you handle multiple users?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GB" sz="1100">
                <a:solidFill>
                  <a:schemeClr val="dk1"/>
                </a:solidFill>
              </a:rPr>
              <a:t>A1</a:t>
            </a:r>
            <a:r>
              <a:rPr i="1" lang="en-GB" sz="1100">
                <a:solidFill>
                  <a:srgbClr val="383A42"/>
                </a:solidFill>
              </a:rPr>
              <a:t>:</a:t>
            </a:r>
            <a:r>
              <a:rPr i="1" lang="en-GB" sz="1100">
                <a:solidFill>
                  <a:schemeClr val="dk1"/>
                </a:solidFill>
              </a:rPr>
              <a:t> Each user has isolated preference profile </a:t>
            </a:r>
            <a:r>
              <a:rPr i="1" lang="en-GB" sz="1100">
                <a:solidFill>
                  <a:srgbClr val="A626A4"/>
                </a:solidFill>
              </a:rPr>
              <a:t>in</a:t>
            </a:r>
            <a:r>
              <a:rPr i="1" lang="en-GB" sz="1100">
                <a:solidFill>
                  <a:schemeClr val="dk1"/>
                </a:solidFill>
              </a:rPr>
              <a:t> database </a:t>
            </a:r>
            <a:endParaRPr i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Q2</a:t>
            </a:r>
            <a:r>
              <a:rPr lang="en-GB" sz="1100">
                <a:solidFill>
                  <a:srgbClr val="383A42"/>
                </a:solidFill>
              </a:rPr>
              <a:t>:</a:t>
            </a:r>
            <a:r>
              <a:rPr lang="en-GB" sz="1100">
                <a:solidFill>
                  <a:schemeClr val="dk1"/>
                </a:solidFill>
              </a:rPr>
              <a:t> What </a:t>
            </a:r>
            <a:r>
              <a:rPr lang="en-GB" sz="1100">
                <a:solidFill>
                  <a:srgbClr val="A626A4"/>
                </a:solidFill>
              </a:rPr>
              <a:t>if</a:t>
            </a:r>
            <a:r>
              <a:rPr lang="en-GB" sz="1100">
                <a:solidFill>
                  <a:schemeClr val="dk1"/>
                </a:solidFill>
              </a:rPr>
              <a:t> play info </a:t>
            </a:r>
            <a:r>
              <a:rPr lang="en-GB" sz="1100">
                <a:solidFill>
                  <a:srgbClr val="A626A4"/>
                </a:solidFill>
              </a:rPr>
              <a:t>is</a:t>
            </a:r>
            <a:r>
              <a:rPr lang="en-GB" sz="1100">
                <a:solidFill>
                  <a:schemeClr val="dk1"/>
                </a:solidFill>
              </a:rPr>
              <a:t> incorrect?</a:t>
            </a:r>
            <a:endParaRPr sz="1100">
              <a:solidFill>
                <a:srgbClr val="4078F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GB" sz="1100">
                <a:solidFill>
                  <a:schemeClr val="dk1"/>
                </a:solidFill>
              </a:rPr>
              <a:t>A2</a:t>
            </a:r>
            <a:r>
              <a:rPr i="1" lang="en-GB" sz="1100">
                <a:solidFill>
                  <a:srgbClr val="383A42"/>
                </a:solidFill>
              </a:rPr>
              <a:t>:</a:t>
            </a:r>
            <a:r>
              <a:rPr i="1" lang="en-GB" sz="1100">
                <a:solidFill>
                  <a:schemeClr val="dk1"/>
                </a:solidFill>
              </a:rPr>
              <a:t> Reflection loop allows users to report errors</a:t>
            </a:r>
            <a:r>
              <a:rPr i="1" lang="en-GB" sz="1100">
                <a:solidFill>
                  <a:srgbClr val="383A42"/>
                </a:solidFill>
              </a:rPr>
              <a:t>,</a:t>
            </a:r>
            <a:r>
              <a:rPr i="1" lang="en-GB" sz="1100">
                <a:solidFill>
                  <a:schemeClr val="dk1"/>
                </a:solidFill>
              </a:rPr>
              <a:t> system self</a:t>
            </a:r>
            <a:r>
              <a:rPr i="1" lang="en-GB" sz="1100">
                <a:solidFill>
                  <a:srgbClr val="4078F2"/>
                </a:solidFill>
              </a:rPr>
              <a:t>-</a:t>
            </a:r>
            <a:r>
              <a:rPr i="1" lang="en-GB" sz="1100">
                <a:solidFill>
                  <a:schemeClr val="dk1"/>
                </a:solidFill>
              </a:rPr>
              <a:t>corrects </a:t>
            </a:r>
            <a:endParaRPr i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Q3</a:t>
            </a:r>
            <a:r>
              <a:rPr lang="en-GB" sz="1100">
                <a:solidFill>
                  <a:srgbClr val="383A42"/>
                </a:solidFill>
              </a:rPr>
              <a:t>:</a:t>
            </a:r>
            <a:r>
              <a:rPr lang="en-GB" sz="1100">
                <a:solidFill>
                  <a:schemeClr val="dk1"/>
                </a:solidFill>
              </a:rPr>
              <a:t> Privacy concerns </a:t>
            </a:r>
            <a:r>
              <a:rPr lang="en-GB" sz="1100">
                <a:solidFill>
                  <a:srgbClr val="A626A4"/>
                </a:solidFill>
              </a:rPr>
              <a:t>with</a:t>
            </a:r>
            <a:r>
              <a:rPr lang="en-GB" sz="1100">
                <a:solidFill>
                  <a:schemeClr val="dk1"/>
                </a:solidFill>
              </a:rPr>
              <a:t> calendar access?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GB" sz="1100">
                <a:solidFill>
                  <a:schemeClr val="dk1"/>
                </a:solidFill>
              </a:rPr>
              <a:t>A3</a:t>
            </a:r>
            <a:r>
              <a:rPr i="1" lang="en-GB" sz="1100">
                <a:solidFill>
                  <a:srgbClr val="383A42"/>
                </a:solidFill>
              </a:rPr>
              <a:t>:</a:t>
            </a:r>
            <a:r>
              <a:rPr i="1" lang="en-GB" sz="1100">
                <a:solidFill>
                  <a:schemeClr val="dk1"/>
                </a:solidFill>
              </a:rPr>
              <a:t> OAuth2</a:t>
            </a:r>
            <a:r>
              <a:rPr i="1" lang="en-GB" sz="1100">
                <a:solidFill>
                  <a:srgbClr val="383A42"/>
                </a:solidFill>
              </a:rPr>
              <a:t>,</a:t>
            </a:r>
            <a:r>
              <a:rPr i="1" lang="en-GB" sz="1100">
                <a:solidFill>
                  <a:schemeClr val="dk1"/>
                </a:solidFill>
              </a:rPr>
              <a:t> read</a:t>
            </a:r>
            <a:r>
              <a:rPr i="1" lang="en-GB" sz="1100">
                <a:solidFill>
                  <a:srgbClr val="4078F2"/>
                </a:solidFill>
              </a:rPr>
              <a:t>-</a:t>
            </a:r>
            <a:r>
              <a:rPr i="1" lang="en-GB" sz="1100">
                <a:solidFill>
                  <a:schemeClr val="dk1"/>
                </a:solidFill>
              </a:rPr>
              <a:t>only access</a:t>
            </a:r>
            <a:r>
              <a:rPr i="1" lang="en-GB" sz="1100">
                <a:solidFill>
                  <a:srgbClr val="383A42"/>
                </a:solidFill>
              </a:rPr>
              <a:t>,</a:t>
            </a:r>
            <a:r>
              <a:rPr i="1" lang="en-GB" sz="1100">
                <a:solidFill>
                  <a:schemeClr val="dk1"/>
                </a:solidFill>
              </a:rPr>
              <a:t> user can revoke anytime </a:t>
            </a:r>
            <a:endParaRPr i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4078F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Q4</a:t>
            </a:r>
            <a:r>
              <a:rPr lang="en-GB" sz="1100">
                <a:solidFill>
                  <a:srgbClr val="383A42"/>
                </a:solidFill>
              </a:rPr>
              <a:t>:</a:t>
            </a:r>
            <a:r>
              <a:rPr lang="en-GB" sz="1100">
                <a:solidFill>
                  <a:schemeClr val="dk1"/>
                </a:solidFill>
              </a:rPr>
              <a:t> Cost of API calls?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-GB" sz="1100">
                <a:solidFill>
                  <a:schemeClr val="dk1"/>
                </a:solidFill>
              </a:rPr>
              <a:t>A4</a:t>
            </a:r>
            <a:r>
              <a:rPr i="1" lang="en-GB" sz="1100">
                <a:solidFill>
                  <a:srgbClr val="383A42"/>
                </a:solidFill>
              </a:rPr>
              <a:t>:</a:t>
            </a:r>
            <a:r>
              <a:rPr i="1" lang="en-GB" sz="1100">
                <a:solidFill>
                  <a:schemeClr val="dk1"/>
                </a:solidFill>
              </a:rPr>
              <a:t> Cached responses</a:t>
            </a:r>
            <a:r>
              <a:rPr i="1" lang="en-GB" sz="1100">
                <a:solidFill>
                  <a:srgbClr val="383A42"/>
                </a:solidFill>
              </a:rPr>
              <a:t>,</a:t>
            </a:r>
            <a:r>
              <a:rPr i="1" lang="en-GB" sz="1100">
                <a:solidFill>
                  <a:schemeClr val="dk1"/>
                </a:solidFill>
              </a:rPr>
              <a:t> batched requests</a:t>
            </a:r>
            <a:r>
              <a:rPr i="1" lang="en-GB" sz="1100">
                <a:solidFill>
                  <a:srgbClr val="383A42"/>
                </a:solidFill>
              </a:rPr>
              <a:t>,</a:t>
            </a:r>
            <a:r>
              <a:rPr i="1" lang="en-GB" sz="1100">
                <a:solidFill>
                  <a:schemeClr val="dk1"/>
                </a:solidFill>
              </a:rPr>
              <a:t> </a:t>
            </a:r>
            <a:r>
              <a:rPr i="1" lang="en-GB" sz="1100">
                <a:solidFill>
                  <a:srgbClr val="4078F2"/>
                </a:solidFill>
              </a:rPr>
              <a:t>~</a:t>
            </a:r>
            <a:r>
              <a:rPr i="1" lang="en-GB" sz="1100">
                <a:solidFill>
                  <a:schemeClr val="dk1"/>
                </a:solidFill>
              </a:rPr>
              <a:t>$</a:t>
            </a:r>
            <a:r>
              <a:rPr i="1" lang="en-GB" sz="1100">
                <a:solidFill>
                  <a:srgbClr val="B76B01"/>
                </a:solidFill>
              </a:rPr>
              <a:t>5</a:t>
            </a:r>
            <a:r>
              <a:rPr i="1" lang="en-GB" sz="1100">
                <a:solidFill>
                  <a:srgbClr val="4078F2"/>
                </a:solidFill>
              </a:rPr>
              <a:t>/</a:t>
            </a:r>
            <a:r>
              <a:rPr i="1" lang="en-GB" sz="1100">
                <a:solidFill>
                  <a:schemeClr val="dk1"/>
                </a:solidFill>
              </a:rPr>
              <a:t>month </a:t>
            </a:r>
            <a:r>
              <a:rPr i="1" lang="en-GB" sz="1100">
                <a:solidFill>
                  <a:srgbClr val="A626A4"/>
                </a:solidFill>
              </a:rPr>
              <a:t>for</a:t>
            </a:r>
            <a:r>
              <a:rPr i="1" lang="en-GB" sz="1100">
                <a:solidFill>
                  <a:schemeClr val="dk1"/>
                </a:solidFill>
              </a:rPr>
              <a:t> </a:t>
            </a:r>
            <a:r>
              <a:rPr i="1" lang="en-GB" sz="1100">
                <a:solidFill>
                  <a:srgbClr val="B76B01"/>
                </a:solidFill>
              </a:rPr>
              <a:t>100</a:t>
            </a:r>
            <a:r>
              <a:rPr i="1" lang="en-GB" sz="1100">
                <a:solidFill>
                  <a:schemeClr val="dk1"/>
                </a:solidFill>
              </a:rPr>
              <a:t> users </a:t>
            </a:r>
            <a:endParaRPr i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
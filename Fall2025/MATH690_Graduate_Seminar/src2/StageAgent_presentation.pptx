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7" r:id="rId5"/>
    <p:sldId id="260" r:id="rId6"/>
    <p:sldId id="261" r:id="rId7"/>
    <p:sldId id="269" r:id="rId8"/>
    <p:sldId id="262" r:id="rId9"/>
    <p:sldId id="270" r:id="rId10"/>
    <p:sldId id="263" r:id="rId11"/>
    <p:sldId id="271" r:id="rId12"/>
    <p:sldId id="264" r:id="rId13"/>
    <p:sldId id="272" r:id="rId14"/>
    <p:sldId id="265" r:id="rId15"/>
    <p:sldId id="273" r:id="rId16"/>
    <p:sldId id="266" r:id="rId17"/>
    <p:sldId id="274" r:id="rId18"/>
    <p:sldId id="275" r:id="rId19"/>
    <p:sldId id="276" r:id="rId20"/>
    <p:sldId id="267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52"/>
  </p:normalViewPr>
  <p:slideViewPr>
    <p:cSldViewPr snapToGrid="0">
      <p:cViewPr>
        <p:scale>
          <a:sx n="71" d="100"/>
          <a:sy n="71" d="100"/>
        </p:scale>
        <p:origin x="2144" y="1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01:38.82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2140 387,'-51'-17,"0"0,-8-9,-2-3,-17-6,-3-2,-3-2,0 1,3 5,1 3,7 6,3 5,11 4,2 3,-37 0,17 9,11 3,2 0,-2 0,-3 5,2 8,8 4,9 3,10-1,4-1,2 5,2 1,1 0,5-1,2 3,0 5,-1 4,0 4,-1 0,4 0,3-4,4-1,3-3,-3 0,0 0,0 0,-2 4,2-3,0-1,3 0,2-1,2 4,-1 0,0 0,2-3,2-2,0-2,1-5,1 1,0-3,3-1,0 1,0 0,0 2,0 1,0 0,0-1,0 1,0 0,0-1,0 1,0 0,0-1,0 1,0 3,0 5,0 5,0 8,0 1,3 4,4 1,3-1,3-1,-1-6,-1-4,0-5,-1-4,1-3,0-6,-1-5,1-4,2-6,9-2,0-2,10-1,-1 0,3 0,3 0,-2 0,0 0,1 0,-3 0,-3 0,-3 0,-4 0,3 0,2 0,4 0,0 0,-1 0,-1 0,-4 0,-1 0,-2 0,-1 0,1 0,0 2,-1 1,1 0,0 0,0-3,-1 0,1 0,-1 0,1 0,0 0,-1 0,1 0,0 0,-1 0,1 0,7 0,5 0,9 0,0 0,-8 0,-3 0,-5 0,0 0,2 0,-1 0,2 0,-2 0,-2 0,1 0,2-2,6-2,3-1,-4-1,-4 0,-5-2,1-1,0-3,0 0,-1-1,-3 1,0-4,-1-2,1 0,0-2,-3 3,-3 0,-4-3,-4 0,0-7,0-5,-3-5,1-7,-1-1,-2-3,-1-4,2-1,-2 0,1 4,-1 6,-3 2,0 1,0-4,0-4,0 0,0 4,0 6,0 6,0 0,0 1,0 5,0 4,0 4,0 1,0 2,0-1,0-2,0 1,0-2,0-1,0 3,0-3,0 1,0-1,-2-3,-4 2,2 9,-1 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26:18.30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54,'75'0,"-9"0,-26 0,-1 0,0 0,0 0,-2-1,-3-1,-6 0,-3-2,-4 2,-1 0,-2 0,1 0,-1 0,0-1,0 0,0 1,-1-2,-2 1,0 1,1-1,-1 1,0 0,0-2,0 2,0-1,1 2,-1 1,0 0,0 0,1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26:22.84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1,'73'0,"0"0,1 0,-1 0,-6 0,-1 0,-1 0,0 0,-4-1,-1 2,-3 0,-1 1,44 3,-21 2,-17 1,-18-2,-6 0,0-1,5 0,3-1,8-2,11 1,4-1,8-2,0 0,-4 0,3 3,-6 0,-1 1,-1 1,0-2,5 2,4 1,3-3,-2-1,-1-2,-7 1,-8 1,-7 1,-9-1,-2-1,1-1,4 0,6 0,5 0,1 0,-1 0,-10 0,-9 0,-5 0,-8 0,0 0,-3 0,-1 0,2 0,0 0,3 0,6 0,8 0,6 0,4 0,0 0,-4 0,-8 0,-10 0,-12 0,-6 0,4 0,20 0,14 0,7 0,-7-4,-16-1,-17 0,-8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26:27.90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1,'59'0,"0"0,-1 0,0 0,-2 0,0 0,-5 0,0 0,42 0,2 0,1 0,-46 0,1 0,2 0,0 0,44 0,2 0,-3 0,-3 0,-1 0,-4 0,0 0,1 0,-5 0,-2 0,-1 0,-3 0,7 0,2 0,0 0,2 0,-7 0,-2 0,3 0,2 0,8 0,3 0,-3 0,-5 0,-13 0,-11 0,-7 0,-4 0,3 0,5 0,4 0,3 0,-1 0,1 0,-3 0,-5 0,-3 0,-3 0,-1 0,1 0,-1 0,-1 0,1 0,0 0,-4 0,-2 0,-5 0,-3 0,-3 0,-4 0,0 0,-2 0,2 0,-1 0,2 0,-1 0,-2 0,2 0,1 0,5 0,5 0,4 0,4 0,2 0,2 0,-4 0,-6 0,-4 0,-6 0,-2 0,-6 0,-6 0,-10 0,-4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26:47.67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1,'100'0,"-1"0,-26 0,2 0,1 0,7 0,1 0,1 0,3 0,0 0,1 0,-2 0,0 0,-1 0,-7 0,-1 0,0 0,2 0,0 0,-1 0,-6 0,-1 0,-1 0,28 0,-3 0,-6 0,-5 0,-14 0,-3 0,-3 0,-1 0,-7 0,-1 0,-5 0,-1 0,35 0,-12 0,-11 0,-9 0,-4 0,-1 0,1 0,1 0,1 0,-2 0,-4 0,-5 0,-6 0,-8 0,-11 0,-5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26:57.74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9329 0,'-72'0,"-8"0,-17 0,40 0,-2 0,-4 0,-3 0,-24 0,-5 0,27 0,-1 0,0 0,0 0,0 0,0 0,-30 0,4 0,25 0,4 0,5 0,2 0,4 0,0 0,2 0,1 0,-3 0,0 0,-3 0,-1 0,-1 0,-2 0,-3 0,-1 0,-1 2,0-1,3 1,0 0,3 1,1-1,6 1,2 0,-48 1,6-1,4 2,5-1,8-1,5 0,4-3,-3 0,-5 3,-9 2,-6 1,-2 3,6-1,10 1,9 0,5-2,3-1,4-1,1 1,4-1,0 0,2-2,0 2,2-3,4 2,2 0,3-2,3 0,2-2,4 0,0 0,-1 0,-1 0,-2 0,3 0,-1 0,2 0,0 0,-1 0,1 0,0 0,2-2,-2 0,0 0,-1-2,0 2,1-1,2 1,1 2,1-2,2 0,1-1,-2 1,1 2,-2 0,-1 0,0 0,-1 0,-1 0,-2 0,-3 0,-2 0,-1 0,-5 0,-1 0,3 0,1 0,3 0,-1 0,-2-2,2-1,0 0,0 0,0 3,-5 0,-4 0,-4 0,-5 0,-6 0,-9 0,-11 0,-9 0,-3 0,3 0,8-2,11-1,6-3,3 0,7 1,2 0,7 3,3 0,2 2,2-2,0-1,0 1,0 0,-3 2,-1 0,0 0,4 0,3 0,0 0,-1 0,-1 0,-1 0,0 0,-3 0,-3 0,-2 0,-2-2,-1 0,-2-1,-1-1,3 0,4 1,4 0,2 3,2-2,2-1,0 1,0 0,-1 2,-4 0,-1 0,-1 0,0 0,0 0,0 0,-3 0,0 0,2 0,2 0,6 0,2 0,5 0,5 0,6 0,4 0,-6 0,1 0,-12 0,4 0,-4 0,-1 0,5 0,5 0,10 0,-7 0,-1 0,-9 0,5 0,2 0,5 0,3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29:23.72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0 131,'79'0,"0"0,-4 0,-2 0,-6 0,-2 0,-1 0,-1 0,-2 0,-1 0,-1 0,-2 0,-2 0,-2 0,44 0,-8 0,-5 0,-7 0,-2 0,-6 0,-5 0,0 0,0-2,4-1,-4 0,29 0,-25 2,19-1,-27-1,2-3,2 2,2 1,-4 0,-5 1,-4 0,-4-1,0-1,-4 1,1 0,-1-1,-4 2,0-1,-3 1,0 2,0-1,-1-1,1-1,-3 1,-2-1,-3 0,-3-1,0-1,-1 0,0-1,1-1,-4-1,0 2,-2 2,-3 0,-2 1,-3-1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45:49.27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33,'75'0,"1"0,-10 0,13 0,7 0,5 0,1 0,-3 0,-10 0,-12 0,-19 0,-14 0,-10 0,-6 0,-5 0,24-7,25-2,-10 4,6 1,5 0,0 1,-3 2,-3 2,27-1,-34 0,-24 0,-11 0,-4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45:52.04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0,'65'0,"0"0,0 0,-1 0,-6 0,-2 0,42 0,-25 0,-27 0,-15 0,-9 0,-7 0,0 0,3 0,0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38:13.309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0,'70'0,"-9"0,-10 0,-9 0,-9 0,-2 0,1 0,-1 0,6 0,2 0,2 0,1 0,-1 0,-2 0,0 0,0 0,-2 0,0 0,-2 0,-1 0,4 0,3 1,6 1,4 1,2 0,0-2,-4 1,-3 0,-6 0,-3 0,-1 0,-3 0,1 1,3 0,-1-1,-2 2,-2 1,-5-1,-1 2,-2-2,-4 1,-5-2,-3-1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38:21.02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39,'66'0,"3"0,-8 0,7 0,-1 0,-3 0,-7 0,-9 0,-3 0,-6 0,4 0,3 0,2 0,5 0,-4 0,-2 0,-4 0,-3 0,0 0,-2 0,2 0,0 0,3 0,3 0,1 0,-1 0,-1 0,0 0,-1 0,3 0,4 0,-1 0,0 0,-6 0,-3 0,-3 0,-3 0,0 0,-3 0,-4-1,-1-2,-1 1,1-2,0 2,-1-3,-5 1,0 1,-2-1,-3 0,-1 1,1 1,1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42:10.57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20,'55'0,"0"0,6 0,1 0,3 0,2 0,9 0,2 0,1-2,0 0,-1-1,0 1,-3-1,-1 0,-6 1,-1 0,-1 2,0 0,-3 0,-1 0,-3 0,0 0,-5 0,-1 0,46 0,-8 0,-2 0,-4 0,-11 0,-9 0,-8 0,-1 0,4 0,3 0,3 0,0 0,0 4,-1 0,-3 2,-2 1,-8-3,-5-1,-7-2,-8-1,-5 0,-3 0,-2 0,-4 0,0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42:13.82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 1,'85'0,"2"0,1 0,0 0,-4 0,4 0,-3 0,-3 0,-8 0,-13 0,-15 0,-10 0,-9 0,-3 0,1 0,2 0,1 0,1 0,2 0,1 0,2 0,-4 0,-3 0,-3 0,-2 0,-2 0,-2 0,-3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42:29.86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0,'71'0,"-4"0,-14 0,2 0,1 0,6 0,-3 0,2 0,-7 0,-5 0,-6 0,0 0,4 0,5 0,3 0,0 0,-3 0,-1 0,-3 0,-2 0,-3 2,-5 1,-6 0,-5 2,0 0,3 1,5 2,7-3,-2 1,-2 0,-4 0,-3 2,-1 0,-3 1,-2-2,-5-2,-4 1,-3-2,-3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42:32.01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48,'72'-6,"0"1,-3 5,4 0,10 0,2 0,5 0,-3 0,-3 0,-7 0,-14 0,-12 0,-9 0,-8 0,-4 0,-4 0,-4 0,-1 0,-4 0,-4 0,14 0,-1 0,16 0,-4-3,-3-2,-5-1,-6 0,-6 3,-4 2,5-3,-8 1,8-3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42:33.64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90 0,'0'96,"0"-44,0 0,0 1,0 1,0-2,0-1,0 38,0-18,-2-14,-4-7,-2-3,1 1,1 0,0 0,-3 3,-3-2,1-2,2-7,2-8,3-5,1-4,3-3,0-2,0-2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42:35.47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29 1,'0'55,"0"0,-3 26,-1-1,3-23,-1-2,-2 15,0-5,3-8,1-17,-2-14,0-7,-1-3,1-1,2-1,-1 8,1-6,0 6,0-8,0 0,0 11,0-5,0 10,0-8,0 4,0 1,0 0,0-3,0-6,0-3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8T21:42:40.527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52,'52'0,"-1"0,49 0,-13 0,5 0,-2 0,2 0,-3 0,0 0,-1 0,-9 0,-8 0,-11 0,-5 0,-1 0,3 0,0 0,0-6,1-1,-5-4,-5-1,-5 5,-7 1,-7 4,-13 2,-7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A2B60-E4A0-077C-F008-6943B585E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50930-9C86-DB49-E026-462A18159B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E354B-7844-1B26-3E30-FE7E91EE6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B687-A196-C84E-A3FB-67E7F68983A2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AFD9B-3F83-4A95-18AE-5E763C254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AD956-8DB4-D5E8-FD55-599CD6ECE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013A-26F3-A743-A0B2-9F9E00BA5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34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B7124-35EE-D0AC-38F0-B3A18899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BDAFC-D6E2-8E0C-2F03-D6A4CC561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CD074-B5A7-FBCD-9DC1-8053D1D8D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B687-A196-C84E-A3FB-67E7F68983A2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1AC3E-42A9-7BDE-7ACA-54F3B6651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71562-28E5-6AD9-8D80-92D5BD15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013A-26F3-A743-A0B2-9F9E00BA5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26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896E9-AF50-353C-46C3-848EA3CEA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02E8E-0A25-01BD-77BA-15CE7C410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8DFA0-248A-E781-CB6D-1E9C22473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B687-A196-C84E-A3FB-67E7F68983A2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34E21-C26A-84BF-34BF-CD963A1B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4484D-3B93-0FB9-CF66-B872E01CE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013A-26F3-A743-A0B2-9F9E00BA5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968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8C83-C227-03E1-7FD6-EC0EE89E7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624D3-D8FB-868D-E37D-F26157147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2F053-8CFD-69CD-040E-DE882D343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E9E1A-FEFC-67A9-6BCF-775411762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B687-A196-C84E-A3FB-67E7F68983A2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CF74F-944D-BC3D-5256-CC509FE2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CB117-D03C-D263-54B5-5D5092162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013A-26F3-A743-A0B2-9F9E00BA5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56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A955-2A7C-F552-2E9F-904FB3CE4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3A3CA-D559-37E5-8E48-004623CF0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2D308-D608-A307-25BD-9B93BCF7E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DAD671-4619-1BD8-2DB4-C149C1267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67761F-6339-F1D0-5972-9D1D4709FB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949AEC-6DD0-AF61-398B-128D3FEFE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B687-A196-C84E-A3FB-67E7F68983A2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6C91FF-12F4-BE9D-4569-3FB03F361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59DEE2-3B2A-499B-F9B8-C463CE74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013A-26F3-A743-A0B2-9F9E00BA5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53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6C970-16E3-F612-A73D-6A9F7832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D01651-8133-28A1-6BC6-E26BF0262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B687-A196-C84E-A3FB-67E7F68983A2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6C218-074C-CC7D-AEB0-11552CCD6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982584-782C-0CB7-846B-FBAA38E0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013A-26F3-A743-A0B2-9F9E00BA5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1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A3D30-DB36-73B0-DC09-0FC245EC2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B687-A196-C84E-A3FB-67E7F68983A2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AB7BC9-54F3-F1F0-FC71-D44B52774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60A65-7192-21B6-1D50-9BCA13EE6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013A-26F3-A743-A0B2-9F9E00BA5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10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FA9C1-6B49-9CFA-77E0-40DBBBDFE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D41A1-9C81-6391-42A9-CE6EB3C45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8C967-46A4-E9B5-3935-19444CC4A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06E99-A8E3-40B4-EADF-A8890297B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B687-A196-C84E-A3FB-67E7F68983A2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F443F-D1F7-B499-DA17-850EFB7C0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64A39-2C0F-FA04-658E-E2AAAB5B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013A-26F3-A743-A0B2-9F9E00BA5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4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9950F-28AD-2DF5-424D-511BB7AA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C1BA1A-55CF-F9F6-B7F8-9F65EA866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30C53-EB58-AA8F-0981-0FCEB31EE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04C92-0E66-E88D-AF04-575F486FC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B687-A196-C84E-A3FB-67E7F68983A2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B8EB0-8635-D154-F77D-6C69077AE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07B809-6B77-19D3-71EA-B373324E4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013A-26F3-A743-A0B2-9F9E00BA5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50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28EC-20DA-4CF4-3C95-E9B52A4D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7C371A-1EC3-A192-121F-71C945699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AB355-3CE0-ECE6-167F-D6087F04D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B687-A196-C84E-A3FB-67E7F68983A2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51BC6-F0EC-93F1-AC3C-16061B95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B2479-5128-4715-5C55-6ED812542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013A-26F3-A743-A0B2-9F9E00BA5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28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85A1AD-E55D-5F31-B857-064568A379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AA831-0056-6B2E-E40D-3D544248E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32AEA-1C28-2398-D1A0-CE32DF00D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B687-A196-C84E-A3FB-67E7F68983A2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23FDF-D2F8-A148-18CE-FFE30878A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5C030-DAE8-6396-9E07-C87F6FD84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013A-26F3-A743-A0B2-9F9E00BA5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9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37E566-6302-C36F-EA46-F8781F51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A9151-94CF-21C7-9F72-FCFAC41FA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4DBF6-4C44-D829-F227-8B83E25E33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9B687-A196-C84E-A3FB-67E7F68983A2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83525-A5B0-DA80-B8AF-3126036B9A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4C505-476B-748E-439F-EE4502714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8C013A-26F3-A743-A0B2-9F9E00BA5E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096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12" Type="http://schemas.openxmlformats.org/officeDocument/2006/relationships/customXml" Target="../ink/ink6.xml"/><Relationship Id="rId17" Type="http://schemas.openxmlformats.org/officeDocument/2006/relationships/image" Target="../media/image23.png"/><Relationship Id="rId2" Type="http://schemas.openxmlformats.org/officeDocument/2006/relationships/image" Target="../media/image15.png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0.png"/><Relationship Id="rId5" Type="http://schemas.openxmlformats.org/officeDocument/2006/relationships/image" Target="../media/image17.png"/><Relationship Id="rId15" Type="http://schemas.openxmlformats.org/officeDocument/2006/relationships/image" Target="../media/image2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9.png"/><Relationship Id="rId14" Type="http://schemas.openxmlformats.org/officeDocument/2006/relationships/hyperlink" Target="https://www.youtube.com/watch?v=Tnv3Nqv4y3k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26.png"/><Relationship Id="rId4" Type="http://schemas.openxmlformats.org/officeDocument/2006/relationships/customXml" Target="../ink/ink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hyperlink" Target="http://youtube.com/watch?time_continue=1&amp;v=soL86uNFKAc&amp;embeds_referring_euri=http%3A%2F%2Flocalhost%3A8501%2F&amp;source_ve_path=Mjg2NjY" TargetMode="Externa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5" Type="http://schemas.openxmlformats.org/officeDocument/2006/relationships/image" Target="../media/image29.png"/><Relationship Id="rId4" Type="http://schemas.openxmlformats.org/officeDocument/2006/relationships/customXml" Target="../ink/ink1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12" Type="http://schemas.openxmlformats.org/officeDocument/2006/relationships/customXml" Target="../ink/ink16.xml"/><Relationship Id="rId17" Type="http://schemas.openxmlformats.org/officeDocument/2006/relationships/image" Target="../media/image39.png"/><Relationship Id="rId2" Type="http://schemas.openxmlformats.org/officeDocument/2006/relationships/image" Target="../media/image31.png"/><Relationship Id="rId16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5" Type="http://schemas.openxmlformats.org/officeDocument/2006/relationships/image" Target="../media/image38.png"/><Relationship Id="rId10" Type="http://schemas.openxmlformats.org/officeDocument/2006/relationships/customXml" Target="../ink/ink15.xml"/><Relationship Id="rId4" Type="http://schemas.openxmlformats.org/officeDocument/2006/relationships/customXml" Target="../ink/ink12.xml"/><Relationship Id="rId9" Type="http://schemas.openxmlformats.org/officeDocument/2006/relationships/image" Target="../media/image35.png"/><Relationship Id="rId14" Type="http://schemas.openxmlformats.org/officeDocument/2006/relationships/customXml" Target="../ink/ink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40BBD-D3F1-83A7-962F-7A963DC4D9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4128"/>
            <a:ext cx="9144000" cy="2387600"/>
          </a:xfrm>
        </p:spPr>
        <p:txBody>
          <a:bodyPr>
            <a:normAutofit/>
          </a:bodyPr>
          <a:lstStyle/>
          <a:p>
            <a:r>
              <a:rPr lang="en-AU" b="1" dirty="0"/>
              <a:t>🎭</a:t>
            </a:r>
            <a:br>
              <a:rPr lang="en-AU" b="1" dirty="0"/>
            </a:br>
            <a:r>
              <a:rPr lang="tr-TR" sz="28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StageAgent: Akıllı Tiyatro Etkinlik Tavsiye Sistemi</a:t>
            </a:r>
            <a:endParaRPr lang="tr-TR" sz="2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D107A-841D-37F1-3DF2-ADF5312A02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 690 Lisansüstü </a:t>
            </a:r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Semineri Dersi </a:t>
            </a:r>
          </a:p>
          <a:p>
            <a:r>
              <a:rPr lang="tr-TR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Dönem Projesi Sunumu</a:t>
            </a:r>
          </a:p>
          <a:p>
            <a:r>
              <a:rPr lang="tr-T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Makbule Özge Özler</a:t>
            </a:r>
          </a:p>
          <a:p>
            <a:r>
              <a:rPr lang="tr-TR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</a:p>
        </p:txBody>
      </p:sp>
    </p:spTree>
    <p:extLst>
      <p:ext uri="{BB962C8B-B14F-4D97-AF65-F5344CB8AC3E}">
        <p14:creationId xmlns:p14="http://schemas.microsoft.com/office/powerpoint/2010/main" val="1524462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B782F-3F63-DAC5-AA2F-91014AA6C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0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Icindekiler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C3072-38E8-9C6D-46C8-211ED6174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8764" y="1843554"/>
            <a:ext cx="7534836" cy="4351338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tr-TR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Giriş ve Motivasyon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tr-TR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Gelişim Süreci: Versiyonlar ve Öğrenimler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tr-TR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1: En Basit Başlangıç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tr-TR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2: Sorguyu Anlama ve Yapılandırma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tr-TR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3: Multi-Agent Hibrit Sistem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tr-TR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4: Harici Araç Entegrasyonu (Google </a:t>
            </a:r>
            <a:r>
              <a:rPr lang="tr-TR" sz="1800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</a:t>
            </a:r>
            <a:r>
              <a:rPr lang="tr-TR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tr-TR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5: Kullanıcı </a:t>
            </a:r>
            <a:r>
              <a:rPr lang="tr-T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Deneyimi</a:t>
            </a:r>
            <a:endParaRPr lang="tr-TR" sz="1800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tr-TR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6: Bağlam Zenginleştirme (YouTube API)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tr-TR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7: Arayüze Geçiş (</a:t>
            </a:r>
            <a:r>
              <a:rPr lang="tr-TR" sz="1800" i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tr-TR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tr-TR" sz="18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Elde Edilen Ana Kazanımlar ve Gelecek Çalışmalar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tr-TR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endParaRPr lang="tr-TR" sz="1800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tr-TR" sz="1800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tr-TR" sz="1800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tr-TR" sz="1800" i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661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AC4AE-158B-B3DA-F615-B2B10FA74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4124C-5D79-740C-60E4-8B636B44B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Giriş ve Motivasyon</a:t>
            </a:r>
            <a:endParaRPr lang="tr-TR" sz="3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6ADD5-AE43-9CDA-58CC-5C4EF7943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1800" b="1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Temel Amaç: 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Kullanıcıların doğal dil sorgularıyla tiyatro etkinliklerini bulmasını sağlayan, gelişen bir sistem oluşturmak.</a:t>
            </a:r>
          </a:p>
          <a:p>
            <a:r>
              <a:rPr lang="tr-TR" sz="1800" b="1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Hedef: 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Andrew Ng'nin </a:t>
            </a:r>
            <a:r>
              <a:rPr lang="tr-TR" sz="18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Agentic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</a:t>
            </a:r>
            <a:r>
              <a:rPr lang="tr-TR" sz="18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Patterns'larını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uygulamalı deneyimlemek</a:t>
            </a:r>
          </a:p>
          <a:p>
            <a:endParaRPr lang="tr-TR" sz="1800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800" b="1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Neden Tiyatro?</a:t>
            </a:r>
            <a:r>
              <a:rPr lang="tr-TR" sz="1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Kişisel ilgi ve proje olarak gösterim potansiyeli</a:t>
            </a:r>
          </a:p>
          <a:p>
            <a:r>
              <a:rPr lang="tr-TR" sz="1800" b="1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Odak Noktaları:</a:t>
            </a:r>
          </a:p>
          <a:p>
            <a:pPr lvl="1"/>
            <a:r>
              <a:rPr lang="tr-TR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Sistemler</a:t>
            </a:r>
          </a:p>
          <a:p>
            <a:pPr lvl="1"/>
            <a:r>
              <a:rPr lang="tr-TR" sz="16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tr-TR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(Araç) Kullanım Desenleri</a:t>
            </a:r>
          </a:p>
          <a:p>
            <a:pPr lvl="1"/>
            <a:r>
              <a:rPr lang="tr-TR" sz="16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İteratif Geliştirme Yaklaşımı</a:t>
            </a:r>
          </a:p>
          <a:p>
            <a:endParaRPr lang="tr-TR" sz="1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590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AC6D9-269B-E380-FB14-76D6737E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F03A-9E75-A6EF-D3A7-03ED58623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0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Gelişim Süreci: Versiyonlar ve Öğrenimler</a:t>
            </a:r>
            <a:endParaRPr lang="tr-TR" sz="3000" noProof="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DCEC9CB-2FB1-9FE0-4709-17FE45A6BA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4555916"/>
              </p:ext>
            </p:extLst>
          </p:nvPr>
        </p:nvGraphicFramePr>
        <p:xfrm>
          <a:off x="838200" y="1934593"/>
          <a:ext cx="10336306" cy="3462158"/>
        </p:xfrm>
        <a:graphic>
          <a:graphicData uri="http://schemas.openxmlformats.org/drawingml/2006/table">
            <a:tbl>
              <a:tblPr/>
              <a:tblGrid>
                <a:gridCol w="5168153">
                  <a:extLst>
                    <a:ext uri="{9D8B030D-6E8A-4147-A177-3AD203B41FA5}">
                      <a16:colId xmlns:a16="http://schemas.microsoft.com/office/drawing/2014/main" val="1965320033"/>
                    </a:ext>
                  </a:extLst>
                </a:gridCol>
                <a:gridCol w="5168153">
                  <a:extLst>
                    <a:ext uri="{9D8B030D-6E8A-4147-A177-3AD203B41FA5}">
                      <a16:colId xmlns:a16="http://schemas.microsoft.com/office/drawing/2014/main" val="3419017948"/>
                    </a:ext>
                  </a:extLst>
                </a:gridCol>
              </a:tblGrid>
              <a:tr h="49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AU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|&gt; </a:t>
                      </a:r>
                      <a:r>
                        <a:rPr lang="en-A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recommender_llm_an1.py 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|&gt; 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980189"/>
                  </a:ext>
                </a:extLst>
              </a:tr>
              <a:tr h="49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AU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|&gt; </a:t>
                      </a:r>
                      <a:r>
                        <a:rPr lang="en-A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recommender_llm_an2.py   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 |&gt;    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080190"/>
                  </a:ext>
                </a:extLst>
              </a:tr>
              <a:tr h="49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AU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|&gt;</a:t>
                      </a:r>
                      <a:r>
                        <a:rPr lang="en-A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recommender_llm_an3.py       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       |&gt; |&gt;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963390"/>
                  </a:ext>
                </a:extLst>
              </a:tr>
              <a:tr h="49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AU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|&gt;</a:t>
                      </a:r>
                      <a:r>
                        <a:rPr lang="en-A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recommender_llm_an4.py             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              |&gt; |&gt; |&gt;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916247"/>
                  </a:ext>
                </a:extLst>
              </a:tr>
              <a:tr h="49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AU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|&gt;</a:t>
                      </a:r>
                      <a:r>
                        <a:rPr lang="en-A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recommender_llm_an5.py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                         |&gt; |&gt; |&gt; |&gt;|&gt; 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51450"/>
                  </a:ext>
                </a:extLst>
              </a:tr>
              <a:tr h="49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AU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|&gt;</a:t>
                      </a:r>
                      <a:r>
                        <a:rPr lang="en-A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recommender_llm_an6.py           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                                         |&gt; |&gt; |&gt; |&gt; |&gt;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441352"/>
                  </a:ext>
                </a:extLst>
              </a:tr>
              <a:tr h="49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solidFill>
                            <a:schemeClr val="accent3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AU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|&gt;</a:t>
                      </a:r>
                      <a:r>
                        <a:rPr lang="en-AU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recommender_web_an7.py            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dirty="0">
                          <a:solidFill>
                            <a:srgbClr val="FFC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                                                            |&gt; |&gt; |&gt; |&gt; |&gt;</a:t>
                      </a:r>
                    </a:p>
                  </a:txBody>
                  <a:tcPr marL="47625" marR="47625" marT="9525" marB="9525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696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405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46C47-6C48-D6B2-B871-69E72CC5B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2DD57-CC4A-66F8-6903-BD18608DF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1: En Basit Başlangıç 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F6F5A-039E-BADF-1DDB-FC5455C23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86474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i="1" noProof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"Start Simple" (Basit Başla)</a:t>
            </a:r>
          </a:p>
          <a:p>
            <a:pPr marL="0" indent="0">
              <a:buNone/>
            </a:pP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Neler Yap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tığım</a:t>
            </a: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: Tek LLM (Gemini), doğrudan kullanıcı sorgusunu iletme.</a:t>
            </a:r>
          </a:p>
          <a:p>
            <a:pPr marL="0" indent="0">
              <a:buNone/>
            </a:pP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Karşılaştığım Zorluklar (!)  :  </a:t>
            </a: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LLM'in "halüsinasyon" görmesi (gerçek dışı öneriler).</a:t>
            </a:r>
          </a:p>
          <a:p>
            <a:pPr marL="0" indent="0">
              <a:buNone/>
            </a:pP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« Öğrenimim »  LLM'ler yaratıcıdır, ancak güncel ve doğrulanmış bilgi için harici araçlara ihtiyaç duyarlar. 	  		(Tool Use zorunluluğu doğdu.)</a:t>
            </a:r>
          </a:p>
          <a:p>
            <a:endParaRPr lang="tr-TR" sz="1800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F78E20-1916-ADDC-9EA0-FD10631E6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240" y="3429000"/>
            <a:ext cx="9909517" cy="302299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95486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2A5A7-3347-9282-D10D-7527B55DE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B554D-DC57-5B00-2AE6-AC9FEF7D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2: Sorguyu Anlama ve Yapılandırma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B4D8E-5243-0E92-1B4D-9943F7BBD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i="1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tr-TR" sz="1800" i="1" noProof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Parse</a:t>
            </a:r>
            <a:r>
              <a:rPr lang="tr-TR" sz="1800" i="1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i="1" noProof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tr-TR" sz="1800" i="1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i="1" noProof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tr-TR" sz="1800" i="1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(İşlemeden Önce Ayrıştır)</a:t>
            </a:r>
          </a:p>
          <a:p>
            <a:pPr marL="0" indent="0">
              <a:buNone/>
            </a:pPr>
            <a:endParaRPr lang="tr-TR" sz="1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Neler Yap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tığım</a:t>
            </a: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Sorgudan şehir ve tarihi elle (</a:t>
            </a:r>
            <a:r>
              <a:rPr lang="tr-TR" sz="18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regex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ile) çıkarma, </a:t>
            </a:r>
            <a:r>
              <a:rPr lang="tr-TR" sz="18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LLM'e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yapısal bilgi sağlama.	</a:t>
            </a:r>
          </a:p>
          <a:p>
            <a:pPr marL="0" indent="0">
              <a:buNone/>
            </a:pP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Karşılaştığım Zorluklar (!)  :  Halüsinasyonlar azalsa da tamamen bitmedi. LLM hala "nerede" arayacağını 				bilmiyordu.</a:t>
            </a:r>
          </a:p>
          <a:p>
            <a:pPr marL="0" indent="0">
              <a:buNone/>
            </a:pP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« Öğrenimim »  </a:t>
            </a:r>
            <a:r>
              <a:rPr lang="tr-TR" sz="18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LLM'e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 talimat vermek önemli ama bilgi eksikliğini gidermez. Gerçek veri kaynaklarına 			bağlantı şart.</a:t>
            </a:r>
          </a:p>
          <a:p>
            <a:endParaRPr lang="tr-TR" sz="1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848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14A8B-CC68-F274-EA89-7C329BC49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CA8BA-6ECF-5A9D-35FC-104AF8421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2: Sorguyu Anlama ve Yapılandırma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F08077-E8E8-913D-1E16-AC5ECD65AB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60500"/>
            <a:ext cx="10515600" cy="532540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69912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CA5E7-55E9-07FA-5F79-5C1B2C37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05171-ED22-36D8-5D20-B2D03F7AC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3: Multi-Agent Hibrit Sistem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179E6-987B-7D16-AFE6-8A3039ACC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6769"/>
            <a:ext cx="10515600" cy="50861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i="1" noProof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"Combine the best of both approaches" (İki yaklaşımın en iyi yönlerini birleştir)</a:t>
            </a:r>
          </a:p>
          <a:p>
            <a:pPr marL="0" indent="0">
              <a:buNone/>
            </a:pPr>
            <a:endParaRPr lang="tr-TR" sz="1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Neler Yap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tığım</a:t>
            </a: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? : Farklı bilgi kaynakları için uzmanlaşmış "ajanlar" oluşturma:</a:t>
            </a:r>
          </a:p>
          <a:p>
            <a:pPr lvl="1"/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İBB Şehir Tiyatroları Ajanı: Web Scraping (requests, BeautifulSoup)</a:t>
            </a:r>
          </a:p>
          <a:p>
            <a:pPr lvl="1"/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Devlet Tiyatroları Ajanı: Selenium ile otomasyon (Biletinial.com) ve yedek olarak Google Search.</a:t>
            </a:r>
          </a:p>
          <a:p>
            <a:pPr lvl="1"/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Özel Tiyatrolar Ajanı: Gemini'nin Google Search aracı ile arama.</a:t>
            </a:r>
          </a:p>
          <a:p>
            <a:pPr marL="0" indent="0">
              <a:buNone/>
            </a:pP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Karşılaştığım Zorluklar (!) :  </a:t>
            </a: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Web sitelerinin kırılgan HTML yapıları ve JavaScript bağımlılığı (Selenium 			öğrenimi).</a:t>
            </a:r>
          </a:p>
          <a:p>
            <a:pPr lvl="1"/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Selenium'un yavaşlığı ve bakım zorluğu.</a:t>
            </a:r>
          </a:p>
          <a:p>
            <a:pPr lvl="1"/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LLM'in arama sonuçlarını doğru yorumlaması için "Prompt Engineering" gereksinimi.</a:t>
            </a:r>
          </a:p>
          <a:p>
            <a:pPr marL="0" indent="0">
              <a:buNone/>
            </a:pP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« Öğrenimim »  Multi-Agent mimarinin gücü: Her işe özel doğru aracı kullanmak.</a:t>
            </a:r>
          </a:p>
          <a:p>
            <a:pPr lvl="1"/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Hibrit sistemler: Kural tabanlı (scraping) ve LLM tabanlı (arama) ajanların birleşimi.</a:t>
            </a:r>
          </a:p>
          <a:p>
            <a:pPr lvl="1"/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Sistem dayanıklılığı için "fallback" mekanizmaları.</a:t>
            </a:r>
          </a:p>
          <a:p>
            <a:endParaRPr lang="tr-TR" sz="1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906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E8DF6-824B-FB17-DDC0-CE5FCCF16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C259F-2E4D-36BA-6008-5DFA1C046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3: Multi-Agent Hibrit Sistem</a:t>
            </a:r>
            <a:endParaRPr lang="en-US" sz="3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C08CDB-79E5-26A8-8444-66F8672A26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8737"/>
          <a:stretch>
            <a:fillRect/>
          </a:stretch>
        </p:blipFill>
        <p:spPr>
          <a:xfrm>
            <a:off x="173587" y="1306104"/>
            <a:ext cx="6375804" cy="50863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48AA2C-722D-120B-918E-C965723872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61740"/>
          <a:stretch>
            <a:fillRect/>
          </a:stretch>
        </p:blipFill>
        <p:spPr>
          <a:xfrm>
            <a:off x="6549391" y="1506946"/>
            <a:ext cx="2968283" cy="48855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380478-5925-C9FD-CF3A-C380EA4A1C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6953"/>
          <a:stretch>
            <a:fillRect/>
          </a:stretch>
        </p:blipFill>
        <p:spPr>
          <a:xfrm>
            <a:off x="9517674" y="5393146"/>
            <a:ext cx="2568526" cy="99930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52562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DBFF2-4EF0-C6D7-F183-8617D62F7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64EBD-A251-A34D-D68E-BE68531BF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4: Harici Araç Entegrasyonu (Google </a:t>
            </a:r>
            <a:r>
              <a:rPr lang="tr-TR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</a:t>
            </a:r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0A0FD-05B1-83B5-581D-D5BC44F8C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182"/>
            <a:ext cx="10515600" cy="47557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i="1" noProof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"Tool Use" (Araç Kullanımı)</a:t>
            </a:r>
          </a:p>
          <a:p>
            <a:pPr marL="0" indent="0">
              <a:buNone/>
            </a:pPr>
            <a:endParaRPr lang="tr-TR" sz="1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Neler Yap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tığım</a:t>
            </a: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: Google Calendar API entegrasyonu, seçilen oyunu takvime ekleyebilme.</a:t>
            </a:r>
          </a:p>
          <a:p>
            <a:pPr marL="0" indent="0">
              <a:buNone/>
            </a:pP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Karşılaştığım Zorluklar :  </a:t>
            </a: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Google OAuth 2.0 yetkilendirme akışını anlama ve uygulama (credentials.json, token.pickle).</a:t>
            </a:r>
          </a:p>
          <a:p>
            <a:pPr marL="0" indent="0">
              <a:buNone/>
            </a:pP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« Öğrenimim »  Bir ajanın pasif bilgi sağlayıcıdan aktif bir asistana dönüşmesi. Eyleme geçme yeteneği.</a:t>
            </a:r>
          </a:p>
          <a:p>
            <a:endParaRPr lang="tr-TR" sz="1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53ACF7-4F3C-8B64-70CF-3A977E334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3642270"/>
            <a:ext cx="4552072" cy="285060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5C3868-5680-B814-662C-FF209143B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1728" y="3642098"/>
            <a:ext cx="4552072" cy="2850777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5C0331D-2621-01F0-F1EB-3636EE23307D}"/>
                  </a:ext>
                </a:extLst>
              </p14:cNvPr>
              <p14:cNvContentPartPr/>
              <p14:nvPr/>
            </p14:nvContentPartPr>
            <p14:xfrm>
              <a:off x="9823375" y="5596505"/>
              <a:ext cx="776520" cy="691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5C0331D-2621-01F0-F1EB-3636EE2330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69735" y="5488865"/>
                <a:ext cx="884160" cy="9075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EA4EEEB-A325-8C87-BD4A-BD1A0091FDFD}"/>
              </a:ext>
            </a:extLst>
          </p:cNvPr>
          <p:cNvSpPr txBox="1"/>
          <p:nvPr/>
        </p:nvSpPr>
        <p:spPr>
          <a:xfrm>
            <a:off x="3868616" y="5067486"/>
            <a:ext cx="801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</a:t>
            </a:r>
            <a:endParaRPr lang="tr-T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99961D-67B0-9A66-4870-2A4B1A4EE406}"/>
              </a:ext>
            </a:extLst>
          </p:cNvPr>
          <p:cNvSpPr txBox="1"/>
          <p:nvPr/>
        </p:nvSpPr>
        <p:spPr>
          <a:xfrm>
            <a:off x="9943514" y="5067486"/>
            <a:ext cx="801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Sonra</a:t>
            </a:r>
          </a:p>
        </p:txBody>
      </p:sp>
    </p:spTree>
    <p:extLst>
      <p:ext uri="{BB962C8B-B14F-4D97-AF65-F5344CB8AC3E}">
        <p14:creationId xmlns:p14="http://schemas.microsoft.com/office/powerpoint/2010/main" val="459765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FB67A-289B-D814-CB2F-132595FC2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8ED37-A283-F3D6-5EC1-1FF452E11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4: Harici Araç Entegrasyonu (Google </a:t>
            </a:r>
            <a:r>
              <a:rPr lang="tr-TR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Calendar</a:t>
            </a:r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87BA29-7858-71BE-52BB-3F66E8950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05" y="1264565"/>
            <a:ext cx="4956313" cy="559343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D9488A-EC17-DBB5-9320-6DD701B74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541" y="1264564"/>
            <a:ext cx="2331285" cy="55934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FEADE6-6CA1-1CAA-76C6-95F06AC26F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578"/>
          <a:stretch>
            <a:fillRect/>
          </a:stretch>
        </p:blipFill>
        <p:spPr>
          <a:xfrm>
            <a:off x="7975361" y="1264564"/>
            <a:ext cx="3996245" cy="559343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69570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44E64-68D1-17F2-D868-589D9F4B5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5: Kullanıcı Deneyimi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AD62A-BFF9-B189-1B31-FDF313F1A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i="1" noProof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"Multi-Query Interaction" (Çoklu Sorgu Etkileşimi)</a:t>
            </a:r>
          </a:p>
          <a:p>
            <a:pPr marL="0" indent="0">
              <a:buNone/>
            </a:pPr>
            <a:endParaRPr lang="tr-TR" sz="1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Neler Yap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tığım</a:t>
            </a: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: Ana menü yapısı, sorgu_gecmisi ile oturum boyunca sorguları saklama.</a:t>
            </a:r>
          </a:p>
          <a:p>
            <a:pPr marL="0" indent="0">
              <a:buNone/>
            </a:pP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Karşılaştığım Zorluklar (!) :  </a:t>
            </a: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Programın durumunu (state) yönetmek, modüler kod yazımı.</a:t>
            </a:r>
          </a:p>
          <a:p>
            <a:pPr marL="0" indent="0">
              <a:buNone/>
            </a:pP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« Öğrenimim »  Akıcı ve sürekli bir kullanıcı diyalogunun önemi. Uygulama hissi yaratma.</a:t>
            </a:r>
          </a:p>
          <a:p>
            <a:endParaRPr lang="tr-TR" sz="1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072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515B2-D7B8-576A-1323-CF1C8444E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7CC21-53B2-CE8C-5EBB-E33816A7D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5: Kullanıcı Deneyimi</a:t>
            </a:r>
            <a:endParaRPr lang="en-US" sz="30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2D759F-006B-9638-0DA8-78066B0B88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0834" y="1921658"/>
            <a:ext cx="3296468" cy="43513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01C269-6336-1093-4C57-BCC0BF3CD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134" y="1515806"/>
            <a:ext cx="3454179" cy="52228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A0DB50-4D86-7F6B-6A0C-87C45975B2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65"/>
          <a:stretch>
            <a:fillRect/>
          </a:stretch>
        </p:blipFill>
        <p:spPr>
          <a:xfrm>
            <a:off x="8425394" y="1515806"/>
            <a:ext cx="3460634" cy="51220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C63C19-AF95-F098-BAB0-9807288B4C58}"/>
              </a:ext>
            </a:extLst>
          </p:cNvPr>
          <p:cNvSpPr txBox="1"/>
          <p:nvPr/>
        </p:nvSpPr>
        <p:spPr>
          <a:xfrm>
            <a:off x="5951284" y="1332932"/>
            <a:ext cx="43431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>
                <a:solidFill>
                  <a:srgbClr val="FF0000"/>
                </a:solidFill>
              </a:rPr>
              <a:t>« 27 ocak 2026 tarihinde </a:t>
            </a:r>
            <a:r>
              <a:rPr lang="tr-TR" sz="1200" dirty="0" err="1">
                <a:solidFill>
                  <a:srgbClr val="FF0000"/>
                </a:solidFill>
              </a:rPr>
              <a:t>Istanbul'da</a:t>
            </a:r>
            <a:r>
              <a:rPr lang="tr-TR" sz="1200" dirty="0">
                <a:solidFill>
                  <a:srgbClr val="FF0000"/>
                </a:solidFill>
              </a:rPr>
              <a:t> hangi tiyatrolar var?»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D619A1-0227-60DD-050A-D39705C961F7}"/>
              </a:ext>
            </a:extLst>
          </p:cNvPr>
          <p:cNvSpPr txBox="1"/>
          <p:nvPr/>
        </p:nvSpPr>
        <p:spPr>
          <a:xfrm>
            <a:off x="258640" y="1687183"/>
            <a:ext cx="39808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200" dirty="0">
                <a:solidFill>
                  <a:srgbClr val="FF0000"/>
                </a:solidFill>
              </a:rPr>
              <a:t>« 22 ocak 2026 tarihinde </a:t>
            </a:r>
            <a:r>
              <a:rPr lang="tr-TR" sz="1200" dirty="0" err="1">
                <a:solidFill>
                  <a:srgbClr val="FF0000"/>
                </a:solidFill>
              </a:rPr>
              <a:t>Istanbul'da</a:t>
            </a:r>
            <a:r>
              <a:rPr lang="tr-TR" sz="1200" dirty="0">
                <a:solidFill>
                  <a:srgbClr val="FF0000"/>
                </a:solidFill>
              </a:rPr>
              <a:t> hangi tiyatrolar var?»</a:t>
            </a:r>
          </a:p>
        </p:txBody>
      </p:sp>
    </p:spTree>
    <p:extLst>
      <p:ext uri="{BB962C8B-B14F-4D97-AF65-F5344CB8AC3E}">
        <p14:creationId xmlns:p14="http://schemas.microsoft.com/office/powerpoint/2010/main" val="100120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0F7D7-C33B-D13F-84C0-3AB67B48B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6: Bağlam Zenginleştirme (YouTube API) 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F9DB6-CDEF-D8AC-A603-40661707F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i="1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tr-TR" sz="1800" i="1" noProof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tr-TR" sz="1800" i="1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800" i="1" noProof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Enrichment</a:t>
            </a:r>
            <a:r>
              <a:rPr lang="tr-TR" sz="1800" i="1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(Bağlam Zenginleştirme)</a:t>
            </a:r>
          </a:p>
          <a:p>
            <a:pPr marL="0" indent="0">
              <a:buNone/>
            </a:pPr>
            <a:endParaRPr lang="tr-TR" sz="1800" i="1" noProof="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Neler Yaptım?: YouTube Data API entegrasyonu, oyunlarla ilgili fragman/tanıtım videoları önerme.</a:t>
            </a:r>
          </a:p>
          <a:p>
            <a:pPr marL="0" indent="0">
              <a:buNone/>
            </a:pP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Karşılaştığım Zorluklar (!)  :  YouTube'da alakasız içerikler arasında doğru videoları bulmak için spesifik arama 			          sorguları oluşturma.</a:t>
            </a:r>
          </a:p>
          <a:p>
            <a:pPr marL="0" indent="0">
              <a:buNone/>
            </a:pP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« Öğrenimim »  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 ajanın sadece birincil görevi değil, kullanıcının karar sürecini destekleyecek ikincil bilgileri 		de sunmasının değeri.</a:t>
            </a:r>
          </a:p>
          <a:p>
            <a:endParaRPr lang="tr-TR" sz="1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587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518F0-B76F-2F8C-9BD4-20478A57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09F6B-3A9C-A887-9B57-FA820FE57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317"/>
            <a:ext cx="10515600" cy="1325563"/>
          </a:xfrm>
        </p:spPr>
        <p:txBody>
          <a:bodyPr>
            <a:normAutofit/>
          </a:bodyPr>
          <a:lstStyle/>
          <a:p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6: Bağlam Zenginleştirme (YouTube API) </a:t>
            </a: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99DED1-1110-C615-759E-07867E3F64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138"/>
          <a:stretch>
            <a:fillRect/>
          </a:stretch>
        </p:blipFill>
        <p:spPr>
          <a:xfrm>
            <a:off x="489485" y="1224581"/>
            <a:ext cx="3657600" cy="54907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DBF957-AA5D-876D-1AC2-1F01917A7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466" y="1224581"/>
            <a:ext cx="3974220" cy="5490718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B873E03-8BA3-30A0-9288-4F98BF69B537}"/>
                  </a:ext>
                </a:extLst>
              </p14:cNvPr>
              <p14:cNvContentPartPr/>
              <p14:nvPr/>
            </p14:nvContentPartPr>
            <p14:xfrm>
              <a:off x="4796495" y="4858493"/>
              <a:ext cx="283320" cy="19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B873E03-8BA3-30A0-9288-4F98BF69B5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42495" y="4750853"/>
                <a:ext cx="39096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31B7A64-0D3D-C918-1A9D-8A964FB21073}"/>
                  </a:ext>
                </a:extLst>
              </p14:cNvPr>
              <p14:cNvContentPartPr/>
              <p14:nvPr/>
            </p14:nvContentPartPr>
            <p14:xfrm>
              <a:off x="4445135" y="1965173"/>
              <a:ext cx="1431000" cy="36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31B7A64-0D3D-C918-1A9D-8A964FB210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91135" y="1857173"/>
                <a:ext cx="15386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E1A9CA3-5A31-2D3E-68C4-0D7C7D77D0B4}"/>
                  </a:ext>
                </a:extLst>
              </p14:cNvPr>
              <p14:cNvContentPartPr/>
              <p14:nvPr/>
            </p14:nvContentPartPr>
            <p14:xfrm>
              <a:off x="2163459" y="4081973"/>
              <a:ext cx="19191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E1A9CA3-5A31-2D3E-68C4-0D7C7D77D0B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09819" y="3974333"/>
                <a:ext cx="2026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B135B28-DA13-A65B-5A94-20E5ED6BBD4C}"/>
                  </a:ext>
                </a:extLst>
              </p14:cNvPr>
              <p14:cNvContentPartPr/>
              <p14:nvPr/>
            </p14:nvContentPartPr>
            <p14:xfrm>
              <a:off x="4446898" y="5376760"/>
              <a:ext cx="125352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B135B28-DA13-A65B-5A94-20E5ED6BBD4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92898" y="5269120"/>
                <a:ext cx="13611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F26A18F-60DA-EC95-772C-D4EDF54EF68D}"/>
                  </a:ext>
                </a:extLst>
              </p14:cNvPr>
              <p14:cNvContentPartPr/>
              <p14:nvPr/>
            </p14:nvContentPartPr>
            <p14:xfrm>
              <a:off x="4567498" y="5504920"/>
              <a:ext cx="3358800" cy="525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F26A18F-60DA-EC95-772C-D4EDF54EF68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13498" y="5396920"/>
                <a:ext cx="3466440" cy="2682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Content Placeholder 19">
            <a:hlinkClick r:id="rId14"/>
            <a:extLst>
              <a:ext uri="{FF2B5EF4-FFF2-40B4-BE49-F238E27FC236}">
                <a16:creationId xmlns:a16="http://schemas.microsoft.com/office/drawing/2014/main" id="{39CEABD8-F1F2-2FC8-AE46-776AD24E9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5"/>
          <a:stretch>
            <a:fillRect/>
          </a:stretch>
        </p:blipFill>
        <p:spPr>
          <a:xfrm>
            <a:off x="7365847" y="2415381"/>
            <a:ext cx="4826153" cy="2778694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71E9D4C-9C2E-67D8-80EE-7AD11C9C2EEE}"/>
                  </a:ext>
                </a:extLst>
              </p14:cNvPr>
              <p14:cNvContentPartPr/>
              <p14:nvPr/>
            </p14:nvContentPartPr>
            <p14:xfrm>
              <a:off x="8763413" y="2429573"/>
              <a:ext cx="1169280" cy="475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71E9D4C-9C2E-67D8-80EE-7AD11C9C2EE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09413" y="2321573"/>
                <a:ext cx="1276920" cy="26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71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EB480-D152-757B-322E-830BCD481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7: Arayüze Geçiş (</a:t>
            </a:r>
            <a:r>
              <a:rPr lang="tr-TR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C4ADF-7FDF-490A-51CE-0A6B1FB60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97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i="1" noProof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"From CLI to GUI" (Komut Satırından Grafiksel Arayüze)</a:t>
            </a:r>
          </a:p>
          <a:p>
            <a:pPr marL="0" indent="0">
              <a:buNone/>
            </a:pPr>
            <a:endParaRPr lang="tr-TR" sz="1800" i="1" noProof="1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Neler Yaptım? Mevcut CLI mantığını Streamlit ile web arayüzüne taşıma. </a:t>
            </a:r>
          </a:p>
          <a:p>
            <a:pPr marL="0" indent="0">
              <a:buNone/>
            </a:pP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	         Arama formu, sonuç kartları, butonlar, video oynatıcılar.</a:t>
            </a:r>
          </a:p>
          <a:p>
            <a:pPr marL="0" indent="0">
              <a:buNone/>
            </a:pP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Karşılaştığım Zorluklar (!)  :  </a:t>
            </a: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Streamlit'in session_state mekanizmasını ve sayfa yeniden çizim (rerun) mantığını 				anlama.</a:t>
            </a:r>
          </a:p>
          <a:p>
            <a:pPr marL="0" indent="0">
              <a:buNone/>
            </a:pPr>
            <a:r>
              <a:rPr lang="tr-TR" sz="18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« Öğrenimim »  İyi bir arayüz, karmaşık agent sistemlerini son kullanıcı için basit ve erişilebilir kılar. Hızlı 			prototipleme araçlarının değeri.</a:t>
            </a:r>
          </a:p>
          <a:p>
            <a:pPr marL="0" indent="0">
              <a:buNone/>
            </a:pPr>
            <a:endParaRPr lang="tr-TR" sz="18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802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20EFB-8153-C740-2F66-311CF8247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E1E58-A6EC-30E7-C902-AF256068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7: Arayüze Geçiş (</a:t>
            </a:r>
            <a:r>
              <a:rPr lang="tr-TR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30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5B3B5B-940D-266A-2CB6-2C9BCC2B4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0CCE94-5998-8109-6435-8DEB33F71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69" y="1369715"/>
            <a:ext cx="5871772" cy="35070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233556-0D94-BCAE-C9AE-446E31233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633" y="3557018"/>
            <a:ext cx="5900367" cy="3132283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136E8BE-6933-1BCF-1204-B926487E9BA8}"/>
                  </a:ext>
                </a:extLst>
              </p14:cNvPr>
              <p14:cNvContentPartPr/>
              <p14:nvPr/>
            </p14:nvContentPartPr>
            <p14:xfrm>
              <a:off x="3318753" y="2772044"/>
              <a:ext cx="567360" cy="12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136E8BE-6933-1BCF-1204-B926487E9B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64753" y="2664044"/>
                <a:ext cx="67500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758C190-2DFD-EF7D-3B04-366709D8DF7E}"/>
                  </a:ext>
                </a:extLst>
              </p14:cNvPr>
              <p14:cNvContentPartPr/>
              <p14:nvPr/>
            </p14:nvContentPartPr>
            <p14:xfrm>
              <a:off x="7083993" y="4574924"/>
              <a:ext cx="25560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758C190-2DFD-EF7D-3B04-366709D8DF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29993" y="4466924"/>
                <a:ext cx="36324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7468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5C0EA-4840-2461-B101-7D5C36695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C97AE-5FAC-0794-A3C9-D03461143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7: Arayüze Geçiş (</a:t>
            </a:r>
            <a:r>
              <a:rPr lang="tr-TR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3000" dirty="0"/>
          </a:p>
        </p:txBody>
      </p:sp>
      <p:pic>
        <p:nvPicPr>
          <p:cNvPr id="3" name="Content Placeholder 2">
            <a:hlinkClick r:id="rId2"/>
            <a:extLst>
              <a:ext uri="{FF2B5EF4-FFF2-40B4-BE49-F238E27FC236}">
                <a16:creationId xmlns:a16="http://schemas.microsoft.com/office/drawing/2014/main" id="{300BEE24-B5D8-9903-0524-EB5017BB9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10515600" cy="4851140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7E4A40F-159E-4B7E-39DF-D4C3A5C4BEB3}"/>
                  </a:ext>
                </a:extLst>
              </p14:cNvPr>
              <p14:cNvContentPartPr/>
              <p14:nvPr/>
            </p14:nvContentPartPr>
            <p14:xfrm>
              <a:off x="8153227" y="3873648"/>
              <a:ext cx="587880" cy="23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7E4A40F-159E-4B7E-39DF-D4C3A5C4BE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99587" y="3765648"/>
                <a:ext cx="69552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8D803B0-0119-75C8-C24E-C2D15D7FE13F}"/>
                  </a:ext>
                </a:extLst>
              </p14:cNvPr>
              <p14:cNvContentPartPr/>
              <p14:nvPr/>
            </p14:nvContentPartPr>
            <p14:xfrm>
              <a:off x="7677847" y="4288045"/>
              <a:ext cx="769320" cy="14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8D803B0-0119-75C8-C24E-C2D15D7FE1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23847" y="4180405"/>
                <a:ext cx="876960" cy="22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0023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27449-1F9C-2B2E-C8DF-02692120B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B57E934-79BC-2154-20B8-174BA9C1A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Versiyon 7: Arayüze Geçiş (</a:t>
            </a: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tr-TR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5B316DF-37DD-DDA4-1657-4CE35A25A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AFB238-2EB4-1A06-CD3D-BD568FBCC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3" y="1397000"/>
            <a:ext cx="7191221" cy="35222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5FDB7F-E804-99BE-47C0-C0199B884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771" y="3722688"/>
            <a:ext cx="5111229" cy="2882900"/>
          </a:xfrm>
          <a:prstGeom prst="rect">
            <a:avLst/>
          </a:prstGeom>
          <a:ln>
            <a:solidFill>
              <a:schemeClr val="accent1"/>
            </a:solidFill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E377354-EB15-C52D-281D-7DAFCFA4ACDE}"/>
                  </a:ext>
                </a:extLst>
              </p14:cNvPr>
              <p14:cNvContentPartPr/>
              <p14:nvPr/>
            </p14:nvContentPartPr>
            <p14:xfrm>
              <a:off x="4704033" y="4456844"/>
              <a:ext cx="1081440" cy="108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E377354-EB15-C52D-281D-7DAFCFA4AC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50393" y="4349204"/>
                <a:ext cx="11890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93A2294-FA74-1B87-F101-4898F610051F}"/>
                  </a:ext>
                </a:extLst>
              </p14:cNvPr>
              <p14:cNvContentPartPr/>
              <p14:nvPr/>
            </p14:nvContentPartPr>
            <p14:xfrm>
              <a:off x="5113353" y="4306004"/>
              <a:ext cx="47448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93A2294-FA74-1B87-F101-4898F610051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59713" y="4198364"/>
                <a:ext cx="582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1BB2488-22CE-6A71-BFD9-B4CAD8A256B5}"/>
                  </a:ext>
                </a:extLst>
              </p14:cNvPr>
              <p14:cNvContentPartPr/>
              <p14:nvPr/>
            </p14:nvContentPartPr>
            <p14:xfrm>
              <a:off x="8157513" y="4823324"/>
              <a:ext cx="589680" cy="388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1BB2488-22CE-6A71-BFD9-B4CAD8A256B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03513" y="4715324"/>
                <a:ext cx="69732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B696844-5E7A-9765-41A7-911FAB8B8788}"/>
                  </a:ext>
                </a:extLst>
              </p14:cNvPr>
              <p14:cNvContentPartPr/>
              <p14:nvPr/>
            </p14:nvContentPartPr>
            <p14:xfrm>
              <a:off x="8160033" y="5358284"/>
              <a:ext cx="509040" cy="17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B696844-5E7A-9765-41A7-911FAB8B878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06033" y="5250284"/>
                <a:ext cx="6166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3F3D883-57B3-909F-5762-4F134A9797BD}"/>
                  </a:ext>
                </a:extLst>
              </p14:cNvPr>
              <p14:cNvContentPartPr/>
              <p14:nvPr/>
            </p14:nvContentPartPr>
            <p14:xfrm>
              <a:off x="8679153" y="4875164"/>
              <a:ext cx="32760" cy="4287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3F3D883-57B3-909F-5762-4F134A9797B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625153" y="4767164"/>
                <a:ext cx="140400" cy="6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AFF5765-3B57-C982-4145-4622548D9B47}"/>
                  </a:ext>
                </a:extLst>
              </p14:cNvPr>
              <p14:cNvContentPartPr/>
              <p14:nvPr/>
            </p14:nvContentPartPr>
            <p14:xfrm>
              <a:off x="8135913" y="4857164"/>
              <a:ext cx="10800" cy="3700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AFF5765-3B57-C982-4145-4622548D9B4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081913" y="4749524"/>
                <a:ext cx="118440" cy="58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D0E757B-3FDD-EA1C-F1CB-B4C7DA62A62A}"/>
                  </a:ext>
                </a:extLst>
              </p14:cNvPr>
              <p14:cNvContentPartPr/>
              <p14:nvPr/>
            </p14:nvContentPartPr>
            <p14:xfrm>
              <a:off x="1035993" y="4127804"/>
              <a:ext cx="580320" cy="190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D0E757B-3FDD-EA1C-F1CB-B4C7DA62A62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81993" y="4020164"/>
                <a:ext cx="687960" cy="23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15514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7DCF-BAFD-D120-30FE-EF4AD80D4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Elde Edilen Ana Kazanımlar ve Gelecek Çalışmalar 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63BEF-BBC6-9DAE-618C-CFDC69E71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Elde Edilen Ana Kazanımlar:</a:t>
            </a:r>
          </a:p>
          <a:p>
            <a:pPr marL="800100" lvl="1" indent="-342900">
              <a:buFont typeface="+mj-lt"/>
              <a:buAutoNum type="alphaLcParenR"/>
            </a:pP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Hibrit Sistemlerin Gücü: Kural tabanlı ve LLM tabanlı yaklaşımların doğru kombinasyonu.</a:t>
            </a:r>
          </a:p>
          <a:p>
            <a:pPr marL="800100" lvl="1" indent="-342900">
              <a:buFont typeface="+mj-lt"/>
              <a:buAutoNum type="alphaLcParenR"/>
            </a:pP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Araçların Önemi: LLM’ </a:t>
            </a:r>
            <a:r>
              <a:rPr lang="tr-TR" sz="18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lerin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harici araçlarla güçlendirilerek asistan rolüne bürünmesi.</a:t>
            </a:r>
          </a:p>
          <a:p>
            <a:pPr marL="800100" lvl="1" indent="-342900">
              <a:buFont typeface="+mj-lt"/>
              <a:buAutoNum type="alphaLcParenR"/>
            </a:pP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İteratif Geliştirmenin Değeri: Adım adım ilerlemenin faydaları***.</a:t>
            </a:r>
          </a:p>
          <a:p>
            <a:pPr marL="457200" lvl="1" indent="0">
              <a:buNone/>
            </a:pPr>
            <a:endParaRPr lang="tr-TR" sz="1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Gelecek Çalışmalar İçin Fikirler:</a:t>
            </a:r>
          </a:p>
          <a:p>
            <a:pPr marL="800100" lvl="1" indent="-342900">
              <a:buFont typeface="+mj-lt"/>
              <a:buAutoNum type="alphaLcParenR"/>
            </a:pP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Kişiselleştirme yani kullanıcı tercihlerine göre öneriler</a:t>
            </a:r>
          </a:p>
          <a:p>
            <a:pPr marL="800100" lvl="1" indent="-342900">
              <a:buFont typeface="+mj-lt"/>
              <a:buAutoNum type="alphaLcParenR"/>
            </a:pP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Geribildirim döngüsü 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yani k</a:t>
            </a:r>
            <a:r>
              <a:rPr lang="tr-TR" sz="18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ullanıcı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beğenilerine göre öğrenme</a:t>
            </a:r>
          </a:p>
          <a:p>
            <a:pPr marL="800100" lvl="1" indent="-342900">
              <a:buFont typeface="+mj-lt"/>
              <a:buAutoNum type="alphaLcParenR"/>
            </a:pP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Grup 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tr-TR" sz="18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lanlaması</a:t>
            </a:r>
            <a:r>
              <a:rPr lang="tr-TR" sz="18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yani arkadaşların ortak takvimine göre otomatik etkinlik planlama.</a:t>
            </a:r>
          </a:p>
          <a:p>
            <a:endParaRPr lang="tr-TR" sz="1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528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E9E49-98D7-055C-1822-B89B3CDD9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7BDB2-726B-BA1D-6579-C46902FC4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136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1000</Words>
  <Application>Microsoft Macintosh PowerPoint</Application>
  <PresentationFormat>Widescreen</PresentationFormat>
  <Paragraphs>114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Courier New</vt:lpstr>
      <vt:lpstr>Times New Roman</vt:lpstr>
      <vt:lpstr>Office Theme</vt:lpstr>
      <vt:lpstr>🎭 StageAgent: Akıllı Tiyatro Etkinlik Tavsiye Sistemi</vt:lpstr>
      <vt:lpstr>Icindekiler</vt:lpstr>
      <vt:lpstr>Giriş ve Motivasyon</vt:lpstr>
      <vt:lpstr>Gelişim Süreci: Versiyonlar ve Öğrenimler</vt:lpstr>
      <vt:lpstr>Versiyon 1: En Basit Başlangıç </vt:lpstr>
      <vt:lpstr>Versiyon 2: Sorguyu Anlama ve Yapılandırma</vt:lpstr>
      <vt:lpstr>Versiyon 2: Sorguyu Anlama ve Yapılandırma</vt:lpstr>
      <vt:lpstr>Versiyon 3: Multi-Agent Hibrit Sistem</vt:lpstr>
      <vt:lpstr>Versiyon 3: Multi-Agent Hibrit Sistem</vt:lpstr>
      <vt:lpstr>Versiyon 4: Harici Araç Entegrasyonu (Google Calendar)</vt:lpstr>
      <vt:lpstr>Versiyon 4: Harici Araç Entegrasyonu (Google Calendar)</vt:lpstr>
      <vt:lpstr>Versiyon 5: Kullanıcı Deneyimi</vt:lpstr>
      <vt:lpstr>Versiyon 5: Kullanıcı Deneyimi</vt:lpstr>
      <vt:lpstr>Versiyon 6: Bağlam Zenginleştirme (YouTube API) </vt:lpstr>
      <vt:lpstr>Versiyon 6: Bağlam Zenginleştirme (YouTube API) </vt:lpstr>
      <vt:lpstr>Versiyon 7: Arayüze Geçiş (Streamlit) </vt:lpstr>
      <vt:lpstr>Versiyon 7: Arayüze Geçiş (Streamlit) </vt:lpstr>
      <vt:lpstr>Versiyon 7: Arayüze Geçiş (Streamlit) </vt:lpstr>
      <vt:lpstr>Versiyon 7: Arayüze Geçiş (Streamlit) </vt:lpstr>
      <vt:lpstr>Elde Edilen Ana Kazanımlar ve Gelecek Çalışmalar 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Makbule Özge Özler</dc:creator>
  <cp:lastModifiedBy>Makbule Özge Özler</cp:lastModifiedBy>
  <cp:revision>145</cp:revision>
  <dcterms:created xsi:type="dcterms:W3CDTF">2026-01-18T19:59:21Z</dcterms:created>
  <dcterms:modified xsi:type="dcterms:W3CDTF">2026-01-18T22:12:53Z</dcterms:modified>
</cp:coreProperties>
</file>